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86" r:id="rId5"/>
    <p:sldId id="264" r:id="rId6"/>
    <p:sldId id="282" r:id="rId7"/>
    <p:sldId id="283" r:id="rId8"/>
    <p:sldId id="284" r:id="rId9"/>
    <p:sldId id="285" r:id="rId10"/>
    <p:sldId id="289" r:id="rId11"/>
    <p:sldId id="288" r:id="rId12"/>
    <p:sldId id="291" r:id="rId13"/>
    <p:sldId id="292" r:id="rId14"/>
    <p:sldId id="274" r:id="rId15"/>
    <p:sldId id="281" r:id="rId16"/>
    <p:sldId id="293"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112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3751557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3460650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2009858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1378801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3233201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1682964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267897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200312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4199976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283411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9A71A1-920A-4FAB-ADF5-C6A53AE99465}" type="datetimeFigureOut">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313882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A71A1-920A-4FAB-ADF5-C6A53AE99465}" type="datetimeFigureOut">
              <a:rPr lang="zh-CN" altLang="en-US" smtClean="0"/>
              <a:t>2025/11/9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993141-6551-413D-BEE3-04BA97891345}" type="slidenum">
              <a:rPr lang="zh-CN" altLang="en-US" smtClean="0"/>
              <a:t>‹#›</a:t>
            </a:fld>
            <a:endParaRPr lang="zh-CN" altLang="en-US"/>
          </a:p>
        </p:txBody>
      </p:sp>
    </p:spTree>
    <p:extLst>
      <p:ext uri="{BB962C8B-B14F-4D97-AF65-F5344CB8AC3E}">
        <p14:creationId xmlns:p14="http://schemas.microsoft.com/office/powerpoint/2010/main" val="20914446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DED5B8-598C-2225-141B-BE796372ADCF}"/>
              </a:ext>
            </a:extLst>
          </p:cNvPr>
          <p:cNvSpPr>
            <a:spLocks noGrp="1"/>
          </p:cNvSpPr>
          <p:nvPr>
            <p:ph type="ctrTitle"/>
          </p:nvPr>
        </p:nvSpPr>
        <p:spPr/>
        <p:txBody>
          <a:bodyPr>
            <a:normAutofit fontScale="90000"/>
          </a:bodyPr>
          <a:lstStyle/>
          <a:p>
            <a:r>
              <a:rPr lang="zh-CN" altLang="en-US" b="1" dirty="0"/>
              <a:t>计算机组成与系统结构</a:t>
            </a:r>
            <a:r>
              <a:rPr lang="en-US" altLang="zh-CN" b="1" dirty="0"/>
              <a:t>II</a:t>
            </a:r>
            <a:br>
              <a:rPr lang="en-US" altLang="zh-CN" b="1" dirty="0"/>
            </a:br>
            <a:r>
              <a:rPr lang="zh-CN" altLang="en-US" b="1" dirty="0"/>
              <a:t>综合实验</a:t>
            </a:r>
          </a:p>
        </p:txBody>
      </p:sp>
      <p:sp>
        <p:nvSpPr>
          <p:cNvPr id="3" name="副标题 2">
            <a:extLst>
              <a:ext uri="{FF2B5EF4-FFF2-40B4-BE49-F238E27FC236}">
                <a16:creationId xmlns:a16="http://schemas.microsoft.com/office/drawing/2014/main" id="{31A67E98-AD0B-7C9B-6B09-E94E06FF042A}"/>
              </a:ext>
            </a:extLst>
          </p:cNvPr>
          <p:cNvSpPr>
            <a:spLocks noGrp="1"/>
          </p:cNvSpPr>
          <p:nvPr>
            <p:ph type="subTitle" idx="1"/>
          </p:nvPr>
        </p:nvSpPr>
        <p:spPr/>
        <p:txBody>
          <a:bodyPr/>
          <a:lstStyle/>
          <a:p>
            <a:endParaRPr lang="en-US" altLang="zh-CN" dirty="0"/>
          </a:p>
          <a:p>
            <a:r>
              <a:rPr lang="zh-CN" altLang="en-US" dirty="0"/>
              <a:t>实验</a:t>
            </a:r>
            <a:r>
              <a:rPr lang="en-US" altLang="zh-CN" dirty="0"/>
              <a:t>3 </a:t>
            </a:r>
            <a:r>
              <a:rPr lang="zh-CN" altLang="en-US" dirty="0"/>
              <a:t>流水线</a:t>
            </a:r>
            <a:r>
              <a:rPr lang="en-US" altLang="zh-CN" dirty="0"/>
              <a:t>CPU</a:t>
            </a:r>
            <a:r>
              <a:rPr lang="zh-CN" altLang="en-US" dirty="0"/>
              <a:t>的设计与实现</a:t>
            </a:r>
          </a:p>
        </p:txBody>
      </p:sp>
    </p:spTree>
    <p:extLst>
      <p:ext uri="{BB962C8B-B14F-4D97-AF65-F5344CB8AC3E}">
        <p14:creationId xmlns:p14="http://schemas.microsoft.com/office/powerpoint/2010/main" val="266492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575AB5-CE67-9381-B82E-77C0A4D4CB37}"/>
              </a:ext>
            </a:extLst>
          </p:cNvPr>
          <p:cNvSpPr>
            <a:spLocks noGrp="1"/>
          </p:cNvSpPr>
          <p:nvPr>
            <p:ph type="title"/>
          </p:nvPr>
        </p:nvSpPr>
        <p:spPr/>
        <p:txBody>
          <a:bodyPr/>
          <a:lstStyle/>
          <a:p>
            <a:r>
              <a:rPr lang="zh-CN" altLang="en-US" b="1" dirty="0"/>
              <a:t>课程安排</a:t>
            </a:r>
          </a:p>
        </p:txBody>
      </p:sp>
      <p:sp>
        <p:nvSpPr>
          <p:cNvPr id="3" name="内容占位符 2">
            <a:extLst>
              <a:ext uri="{FF2B5EF4-FFF2-40B4-BE49-F238E27FC236}">
                <a16:creationId xmlns:a16="http://schemas.microsoft.com/office/drawing/2014/main" id="{A0E7CBDD-8767-680A-5CEC-8E5A133CE850}"/>
              </a:ext>
            </a:extLst>
          </p:cNvPr>
          <p:cNvSpPr>
            <a:spLocks noGrp="1"/>
          </p:cNvSpPr>
          <p:nvPr>
            <p:ph idx="1"/>
          </p:nvPr>
        </p:nvSpPr>
        <p:spPr/>
        <p:txBody>
          <a:bodyPr/>
          <a:lstStyle/>
          <a:p>
            <a:pPr marL="0" indent="0">
              <a:buNone/>
            </a:pPr>
            <a:r>
              <a:rPr lang="en-US" altLang="zh-CN" sz="2800" dirty="0"/>
              <a:t>     </a:t>
            </a:r>
          </a:p>
          <a:p>
            <a:pPr marL="0" indent="0">
              <a:buNone/>
            </a:pPr>
            <a:r>
              <a:rPr lang="en-US" altLang="zh-CN" sz="2800" dirty="0"/>
              <a:t>    1. ALU</a:t>
            </a:r>
            <a:r>
              <a:rPr lang="zh-CN" altLang="en-US" sz="2800" dirty="0"/>
              <a:t>实现</a:t>
            </a:r>
            <a:endParaRPr lang="en-US" altLang="zh-CN" sz="2800" dirty="0"/>
          </a:p>
          <a:p>
            <a:pPr marL="0" indent="0">
              <a:buNone/>
            </a:pPr>
            <a:r>
              <a:rPr lang="en-US" altLang="zh-CN" sz="2800" dirty="0"/>
              <a:t>    2. </a:t>
            </a:r>
            <a:r>
              <a:rPr lang="zh-CN" altLang="en-US" sz="2800" dirty="0"/>
              <a:t>单周期处理器设计</a:t>
            </a:r>
            <a:endParaRPr lang="en-US" altLang="zh-CN" sz="2800" dirty="0"/>
          </a:p>
          <a:p>
            <a:pPr marL="0" indent="0">
              <a:buNone/>
            </a:pPr>
            <a:r>
              <a:rPr lang="en-US" altLang="zh-CN" sz="2800" dirty="0">
                <a:solidFill>
                  <a:srgbClr val="FF0000"/>
                </a:solidFill>
              </a:rPr>
              <a:t>    3. </a:t>
            </a:r>
            <a:r>
              <a:rPr lang="zh-CN" altLang="en-US" sz="2800" dirty="0">
                <a:solidFill>
                  <a:srgbClr val="FF0000"/>
                </a:solidFill>
              </a:rPr>
              <a:t>流水线处理器设计</a:t>
            </a:r>
            <a:endParaRPr lang="en-US" altLang="zh-CN" sz="2800" dirty="0">
              <a:solidFill>
                <a:srgbClr val="FF0000"/>
              </a:solidFill>
            </a:endParaRPr>
          </a:p>
          <a:p>
            <a:pPr marL="0" indent="0">
              <a:buNone/>
            </a:pPr>
            <a:r>
              <a:rPr lang="en-US" altLang="zh-CN" sz="2800" dirty="0"/>
              <a:t>    4. </a:t>
            </a:r>
            <a:r>
              <a:rPr lang="zh-CN" altLang="en-US" sz="2800" dirty="0"/>
              <a:t>流水线冒险及处理</a:t>
            </a:r>
            <a:r>
              <a:rPr lang="en-US" altLang="zh-CN" sz="2800" dirty="0"/>
              <a:t>——</a:t>
            </a:r>
            <a:r>
              <a:rPr lang="zh-CN" altLang="en-US" sz="2800" dirty="0"/>
              <a:t>数据冒险</a:t>
            </a:r>
            <a:endParaRPr lang="en-US" altLang="zh-CN" sz="2800" dirty="0"/>
          </a:p>
          <a:p>
            <a:pPr marL="0" indent="0">
              <a:buNone/>
            </a:pPr>
            <a:r>
              <a:rPr lang="en-US" altLang="zh-CN" sz="2800" dirty="0"/>
              <a:t>    5. </a:t>
            </a:r>
            <a:r>
              <a:rPr lang="zh-CN" altLang="en-US" sz="2800" dirty="0"/>
              <a:t>流水线冒险及处理</a:t>
            </a:r>
            <a:r>
              <a:rPr lang="en-US" altLang="zh-CN" sz="2800" dirty="0"/>
              <a:t>——</a:t>
            </a:r>
            <a:r>
              <a:rPr lang="zh-CN" altLang="en-US" sz="2800" dirty="0"/>
              <a:t>控制冒险</a:t>
            </a:r>
            <a:endParaRPr lang="zh-CN" altLang="en-US" dirty="0"/>
          </a:p>
        </p:txBody>
      </p:sp>
    </p:spTree>
    <p:extLst>
      <p:ext uri="{BB962C8B-B14F-4D97-AF65-F5344CB8AC3E}">
        <p14:creationId xmlns:p14="http://schemas.microsoft.com/office/powerpoint/2010/main" val="2490047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B62350-64C1-9AC1-07AF-1B8E24C47B12}"/>
              </a:ext>
            </a:extLst>
          </p:cNvPr>
          <p:cNvSpPr>
            <a:spLocks noGrp="1"/>
          </p:cNvSpPr>
          <p:nvPr>
            <p:ph type="title"/>
          </p:nvPr>
        </p:nvSpPr>
        <p:spPr/>
        <p:txBody>
          <a:bodyPr/>
          <a:lstStyle/>
          <a:p>
            <a:r>
              <a:rPr lang="zh-CN" altLang="en-US" b="1" dirty="0"/>
              <a:t>实验目的与要求</a:t>
            </a:r>
          </a:p>
        </p:txBody>
      </p:sp>
      <p:sp>
        <p:nvSpPr>
          <p:cNvPr id="3" name="内容占位符 2">
            <a:extLst>
              <a:ext uri="{FF2B5EF4-FFF2-40B4-BE49-F238E27FC236}">
                <a16:creationId xmlns:a16="http://schemas.microsoft.com/office/drawing/2014/main" id="{13755A12-F932-94D6-BF89-2E659EDC8D9A}"/>
              </a:ext>
            </a:extLst>
          </p:cNvPr>
          <p:cNvSpPr>
            <a:spLocks noGrp="1"/>
          </p:cNvSpPr>
          <p:nvPr>
            <p:ph idx="1"/>
          </p:nvPr>
        </p:nvSpPr>
        <p:spPr/>
        <p:txBody>
          <a:bodyPr>
            <a:normAutofit/>
          </a:bodyPr>
          <a:lstStyle/>
          <a:p>
            <a:pPr marL="0" indent="0">
              <a:lnSpc>
                <a:spcPct val="100000"/>
              </a:lnSpc>
              <a:spcAft>
                <a:spcPts val="1000"/>
              </a:spcAft>
              <a:buNone/>
            </a:pPr>
            <a:r>
              <a:rPr lang="zh-CN" altLang="en-US" sz="2800" b="1" dirty="0"/>
              <a:t>实验目的：</a:t>
            </a:r>
            <a:endParaRPr lang="en-US" altLang="zh-CN" sz="2800" b="1" dirty="0"/>
          </a:p>
          <a:p>
            <a:pPr marL="0" indent="0">
              <a:buNone/>
            </a:pPr>
            <a:r>
              <a:rPr lang="en-US" altLang="zh-CN" sz="2400" dirty="0"/>
              <a:t>1. </a:t>
            </a:r>
            <a:r>
              <a:rPr lang="zh-CN" altLang="en-US" sz="2400" dirty="0"/>
              <a:t>理解指令流水线的概念；</a:t>
            </a:r>
            <a:r>
              <a:rPr lang="en-US" altLang="zh-CN" sz="2400" dirty="0"/>
              <a:t> </a:t>
            </a:r>
          </a:p>
          <a:p>
            <a:pPr marL="0" indent="0">
              <a:buNone/>
            </a:pPr>
            <a:r>
              <a:rPr lang="en-US" altLang="zh-CN" sz="2400" dirty="0"/>
              <a:t>2. </a:t>
            </a:r>
            <a:r>
              <a:rPr lang="zh-CN" altLang="en-US" sz="2400" dirty="0"/>
              <a:t>掌握流水线处理器的设计与实现方法；</a:t>
            </a:r>
            <a:endParaRPr lang="en-US" altLang="zh-CN" sz="2400" dirty="0"/>
          </a:p>
          <a:p>
            <a:pPr marL="0" indent="0">
              <a:buNone/>
            </a:pPr>
            <a:endParaRPr lang="en-US" altLang="zh-CN" sz="2800" dirty="0"/>
          </a:p>
          <a:p>
            <a:pPr marL="0" indent="0">
              <a:lnSpc>
                <a:spcPct val="100000"/>
              </a:lnSpc>
              <a:spcAft>
                <a:spcPts val="1000"/>
              </a:spcAft>
              <a:buNone/>
            </a:pPr>
            <a:r>
              <a:rPr lang="zh-CN" altLang="en-US" sz="2800" b="1" dirty="0"/>
              <a:t>实验要求：</a:t>
            </a:r>
            <a:endParaRPr lang="en-US" altLang="zh-CN" sz="2800" b="1" dirty="0"/>
          </a:p>
          <a:p>
            <a:pPr marL="0" indent="0">
              <a:buNone/>
            </a:pPr>
            <a:r>
              <a:rPr lang="en-US" altLang="zh-CN" sz="2400" dirty="0"/>
              <a:t>1. </a:t>
            </a:r>
            <a:r>
              <a:rPr lang="zh-CN" altLang="en-US" sz="2400" dirty="0"/>
              <a:t>设计并实现具备五级指令流水线结构的处理器；</a:t>
            </a:r>
            <a:endParaRPr lang="en-US" altLang="zh-CN" sz="2400" dirty="0"/>
          </a:p>
          <a:p>
            <a:pPr marL="0" indent="0">
              <a:buNone/>
            </a:pPr>
            <a:r>
              <a:rPr lang="en-US" altLang="zh-CN" sz="2400" dirty="0"/>
              <a:t>2. </a:t>
            </a:r>
            <a:r>
              <a:rPr lang="zh-CN" altLang="en-US" sz="2400" dirty="0"/>
              <a:t>设计指令序列对</a:t>
            </a:r>
            <a:r>
              <a:rPr lang="en-US" altLang="zh-CN" sz="2400" dirty="0"/>
              <a:t>CPU</a:t>
            </a:r>
            <a:r>
              <a:rPr lang="zh-CN" altLang="en-US" sz="2400" dirty="0"/>
              <a:t>进行仿真验证；</a:t>
            </a:r>
            <a:endParaRPr lang="en-US" altLang="zh-CN" sz="2400" dirty="0"/>
          </a:p>
          <a:p>
            <a:endParaRPr lang="zh-CN" altLang="en-US" dirty="0"/>
          </a:p>
        </p:txBody>
      </p:sp>
    </p:spTree>
    <p:extLst>
      <p:ext uri="{BB962C8B-B14F-4D97-AF65-F5344CB8AC3E}">
        <p14:creationId xmlns:p14="http://schemas.microsoft.com/office/powerpoint/2010/main" val="277349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F5EB5-0E67-0228-4218-FFA3342510F4}"/>
              </a:ext>
            </a:extLst>
          </p:cNvPr>
          <p:cNvSpPr>
            <a:spLocks noGrp="1"/>
          </p:cNvSpPr>
          <p:nvPr>
            <p:ph type="title"/>
          </p:nvPr>
        </p:nvSpPr>
        <p:spPr/>
        <p:txBody>
          <a:bodyPr/>
          <a:lstStyle/>
          <a:p>
            <a:r>
              <a:rPr lang="zh-CN" altLang="en-US" b="1" dirty="0"/>
              <a:t>流水线处理器设计</a:t>
            </a:r>
          </a:p>
        </p:txBody>
      </p:sp>
      <p:sp>
        <p:nvSpPr>
          <p:cNvPr id="3" name="内容占位符 2">
            <a:extLst>
              <a:ext uri="{FF2B5EF4-FFF2-40B4-BE49-F238E27FC236}">
                <a16:creationId xmlns:a16="http://schemas.microsoft.com/office/drawing/2014/main" id="{826FC345-7D2B-AE25-646B-1F59EFD1DEFA}"/>
              </a:ext>
            </a:extLst>
          </p:cNvPr>
          <p:cNvSpPr>
            <a:spLocks noGrp="1"/>
          </p:cNvSpPr>
          <p:nvPr>
            <p:ph idx="1"/>
          </p:nvPr>
        </p:nvSpPr>
        <p:spPr/>
        <p:txBody>
          <a:bodyPr>
            <a:normAutofit/>
          </a:bodyPr>
          <a:lstStyle/>
          <a:p>
            <a:pPr marL="0" indent="0">
              <a:buNone/>
            </a:pPr>
            <a:r>
              <a:rPr lang="en-US" altLang="zh-CN" sz="2400" dirty="0"/>
              <a:t>    </a:t>
            </a:r>
            <a:r>
              <a:rPr lang="zh-CN" altLang="en-US" sz="2400" dirty="0"/>
              <a:t>将一条指令的执行过程分为</a:t>
            </a:r>
            <a:r>
              <a:rPr lang="en-US" altLang="zh-CN" sz="2400" dirty="0"/>
              <a:t>5</a:t>
            </a:r>
            <a:r>
              <a:rPr lang="zh-CN" altLang="en-US" sz="2400" dirty="0"/>
              <a:t>个阶段，每个阶段由相应的功能部件完成，每条指令依次通过各功能部件，完成相应阶段的工作，指令就像流水线上的产品，成为指令流水线。</a:t>
            </a:r>
            <a:endParaRPr lang="en-US" altLang="zh-CN" sz="2400" dirty="0"/>
          </a:p>
          <a:p>
            <a:pPr marL="0" indent="0">
              <a:buNone/>
            </a:pPr>
            <a:r>
              <a:rPr lang="en-US" altLang="zh-CN" sz="2400" dirty="0"/>
              <a:t>    </a:t>
            </a:r>
            <a:r>
              <a:rPr lang="zh-CN" altLang="en-US" sz="2400" dirty="0"/>
              <a:t>（</a:t>
            </a:r>
            <a:r>
              <a:rPr lang="en-US" altLang="zh-CN" sz="2400" dirty="0"/>
              <a:t>1</a:t>
            </a:r>
            <a:r>
              <a:rPr lang="zh-CN" altLang="en-US" sz="2400" dirty="0"/>
              <a:t>）取指（</a:t>
            </a:r>
            <a:r>
              <a:rPr lang="en-US" altLang="zh-CN" sz="2400" dirty="0"/>
              <a:t>IF</a:t>
            </a:r>
            <a:r>
              <a:rPr lang="zh-CN" altLang="en-US" sz="2400" dirty="0"/>
              <a:t>）：根据地址从指令存储器中取出指令；</a:t>
            </a:r>
            <a:endParaRPr lang="en-US" altLang="zh-CN" sz="2400" dirty="0"/>
          </a:p>
          <a:p>
            <a:pPr marL="0" indent="0">
              <a:buNone/>
            </a:pPr>
            <a:r>
              <a:rPr lang="en-US" altLang="zh-CN" sz="2400" dirty="0"/>
              <a:t>    </a:t>
            </a:r>
            <a:r>
              <a:rPr lang="zh-CN" altLang="en-US" sz="2400" dirty="0"/>
              <a:t>（</a:t>
            </a:r>
            <a:r>
              <a:rPr lang="en-US" altLang="zh-CN" sz="2400" dirty="0"/>
              <a:t>2</a:t>
            </a:r>
            <a:r>
              <a:rPr lang="zh-CN" altLang="en-US" sz="2400" dirty="0"/>
              <a:t>）指令译码（</a:t>
            </a:r>
            <a:r>
              <a:rPr lang="en-US" altLang="zh-CN" sz="2400" dirty="0"/>
              <a:t>ID</a:t>
            </a:r>
            <a:r>
              <a:rPr lang="zh-CN" altLang="en-US" sz="2400" dirty="0"/>
              <a:t>）：产生指令执行所需的控制信号；</a:t>
            </a:r>
            <a:endParaRPr lang="en-US" altLang="zh-CN" sz="2400" dirty="0"/>
          </a:p>
          <a:p>
            <a:pPr marL="0" indent="0">
              <a:buNone/>
            </a:pPr>
            <a:r>
              <a:rPr lang="en-US" altLang="zh-CN" sz="2400" dirty="0"/>
              <a:t>    </a:t>
            </a:r>
            <a:r>
              <a:rPr lang="zh-CN" altLang="en-US" sz="2400" dirty="0"/>
              <a:t>（</a:t>
            </a:r>
            <a:r>
              <a:rPr lang="en-US" altLang="zh-CN" sz="2400" dirty="0"/>
              <a:t>3</a:t>
            </a:r>
            <a:r>
              <a:rPr lang="zh-CN" altLang="en-US" sz="2400" dirty="0"/>
              <a:t>）执行（</a:t>
            </a:r>
            <a:r>
              <a:rPr lang="en-US" altLang="zh-CN" sz="2400" dirty="0"/>
              <a:t>Ex</a:t>
            </a:r>
            <a:r>
              <a:rPr lang="zh-CN" altLang="en-US" sz="2400" dirty="0"/>
              <a:t>）：使用</a:t>
            </a:r>
            <a:r>
              <a:rPr lang="en-US" altLang="zh-CN" sz="2400" dirty="0"/>
              <a:t>ALU</a:t>
            </a:r>
            <a:r>
              <a:rPr lang="zh-CN" altLang="en-US" sz="2400" dirty="0"/>
              <a:t>完成指令所需运算；</a:t>
            </a:r>
            <a:endParaRPr lang="en-US" altLang="zh-CN" sz="2400" dirty="0"/>
          </a:p>
          <a:p>
            <a:pPr marL="0" indent="0">
              <a:buNone/>
            </a:pPr>
            <a:r>
              <a:rPr lang="en-US" altLang="zh-CN" sz="2400" dirty="0"/>
              <a:t>    </a:t>
            </a:r>
            <a:r>
              <a:rPr lang="zh-CN" altLang="en-US" sz="2400" dirty="0"/>
              <a:t>（</a:t>
            </a:r>
            <a:r>
              <a:rPr lang="en-US" altLang="zh-CN" sz="2400" dirty="0"/>
              <a:t>4</a:t>
            </a:r>
            <a:r>
              <a:rPr lang="zh-CN" altLang="en-US" sz="2400" dirty="0"/>
              <a:t>）存储器操作（</a:t>
            </a:r>
            <a:r>
              <a:rPr lang="en-US" altLang="zh-CN" sz="2400" dirty="0"/>
              <a:t>Mem</a:t>
            </a:r>
            <a:r>
              <a:rPr lang="zh-CN" altLang="en-US" sz="2400" dirty="0"/>
              <a:t>）：完成存储器单元操作；</a:t>
            </a:r>
            <a:endParaRPr lang="en-US" altLang="zh-CN" sz="2400" dirty="0"/>
          </a:p>
          <a:p>
            <a:pPr marL="0" indent="0">
              <a:buNone/>
            </a:pPr>
            <a:r>
              <a:rPr lang="en-US" altLang="zh-CN" sz="2400" dirty="0"/>
              <a:t>    </a:t>
            </a:r>
            <a:r>
              <a:rPr lang="zh-CN" altLang="en-US" sz="2400" dirty="0"/>
              <a:t>（</a:t>
            </a:r>
            <a:r>
              <a:rPr lang="en-US" altLang="zh-CN" sz="2400" dirty="0"/>
              <a:t>5</a:t>
            </a:r>
            <a:r>
              <a:rPr lang="zh-CN" altLang="en-US" sz="2400" dirty="0"/>
              <a:t>）写回（</a:t>
            </a:r>
            <a:r>
              <a:rPr lang="en-US" altLang="zh-CN" sz="2400" dirty="0" err="1"/>
              <a:t>Wr</a:t>
            </a:r>
            <a:r>
              <a:rPr lang="zh-CN" altLang="en-US" sz="2400" dirty="0"/>
              <a:t>）：将结果写入寄存器。</a:t>
            </a:r>
          </a:p>
        </p:txBody>
      </p:sp>
    </p:spTree>
    <p:extLst>
      <p:ext uri="{BB962C8B-B14F-4D97-AF65-F5344CB8AC3E}">
        <p14:creationId xmlns:p14="http://schemas.microsoft.com/office/powerpoint/2010/main" val="519635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AF505-1235-9B3F-3397-36B722D82139}"/>
              </a:ext>
            </a:extLst>
          </p:cNvPr>
          <p:cNvSpPr>
            <a:spLocks noGrp="1"/>
          </p:cNvSpPr>
          <p:nvPr>
            <p:ph type="title"/>
          </p:nvPr>
        </p:nvSpPr>
        <p:spPr/>
        <p:txBody>
          <a:bodyPr/>
          <a:lstStyle/>
          <a:p>
            <a:r>
              <a:rPr lang="zh-CN" altLang="en-US" b="1"/>
              <a:t>流水线处理器设计（</a:t>
            </a:r>
            <a:r>
              <a:rPr lang="en-US" altLang="zh-CN" b="1"/>
              <a:t>IF</a:t>
            </a:r>
            <a:r>
              <a:rPr lang="zh-CN" altLang="en-US" b="1"/>
              <a:t>）</a:t>
            </a:r>
            <a:endParaRPr lang="zh-CN" altLang="en-US" b="1" dirty="0"/>
          </a:p>
        </p:txBody>
      </p:sp>
      <p:pic>
        <p:nvPicPr>
          <p:cNvPr id="4" name="图片 3" descr="图示&#10;&#10;描述已自动生成">
            <a:extLst>
              <a:ext uri="{FF2B5EF4-FFF2-40B4-BE49-F238E27FC236}">
                <a16:creationId xmlns:a16="http://schemas.microsoft.com/office/drawing/2014/main" id="{F36AA2B3-2D84-D3F6-0C52-47ACAFD03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9780" y="1690689"/>
            <a:ext cx="4964440" cy="4286259"/>
          </a:xfrm>
          <a:prstGeom prst="rect">
            <a:avLst/>
          </a:prstGeom>
        </p:spPr>
      </p:pic>
    </p:spTree>
    <p:extLst>
      <p:ext uri="{BB962C8B-B14F-4D97-AF65-F5344CB8AC3E}">
        <p14:creationId xmlns:p14="http://schemas.microsoft.com/office/powerpoint/2010/main" val="3646199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AF505-1235-9B3F-3397-36B722D82139}"/>
              </a:ext>
            </a:extLst>
          </p:cNvPr>
          <p:cNvSpPr>
            <a:spLocks noGrp="1"/>
          </p:cNvSpPr>
          <p:nvPr>
            <p:ph type="title"/>
          </p:nvPr>
        </p:nvSpPr>
        <p:spPr/>
        <p:txBody>
          <a:bodyPr/>
          <a:lstStyle/>
          <a:p>
            <a:r>
              <a:rPr lang="zh-CN" altLang="en-US" b="1" dirty="0"/>
              <a:t>流水线处理器设计（</a:t>
            </a:r>
            <a:r>
              <a:rPr lang="en-US" altLang="zh-CN" b="1" dirty="0"/>
              <a:t>ID</a:t>
            </a:r>
            <a:r>
              <a:rPr lang="zh-CN" altLang="en-US" b="1" dirty="0"/>
              <a:t>）</a:t>
            </a:r>
          </a:p>
        </p:txBody>
      </p:sp>
      <p:pic>
        <p:nvPicPr>
          <p:cNvPr id="6" name="图片 5">
            <a:extLst>
              <a:ext uri="{FF2B5EF4-FFF2-40B4-BE49-F238E27FC236}">
                <a16:creationId xmlns:a16="http://schemas.microsoft.com/office/drawing/2014/main" id="{5FBA2C01-5B87-4657-88E7-8266229B5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2175" y="1690689"/>
            <a:ext cx="4739650" cy="4084329"/>
          </a:xfrm>
          <a:prstGeom prst="rect">
            <a:avLst/>
          </a:prstGeom>
        </p:spPr>
      </p:pic>
    </p:spTree>
    <p:extLst>
      <p:ext uri="{BB962C8B-B14F-4D97-AF65-F5344CB8AC3E}">
        <p14:creationId xmlns:p14="http://schemas.microsoft.com/office/powerpoint/2010/main" val="2970463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AF505-1235-9B3F-3397-36B722D82139}"/>
              </a:ext>
            </a:extLst>
          </p:cNvPr>
          <p:cNvSpPr>
            <a:spLocks noGrp="1"/>
          </p:cNvSpPr>
          <p:nvPr>
            <p:ph type="title"/>
          </p:nvPr>
        </p:nvSpPr>
        <p:spPr/>
        <p:txBody>
          <a:bodyPr/>
          <a:lstStyle/>
          <a:p>
            <a:r>
              <a:rPr lang="zh-CN" altLang="en-US" b="1" dirty="0"/>
              <a:t>流水线处理器设计（</a:t>
            </a:r>
            <a:r>
              <a:rPr lang="en-US" altLang="zh-CN" b="1" dirty="0"/>
              <a:t>Ex</a:t>
            </a:r>
            <a:r>
              <a:rPr lang="zh-CN" altLang="en-US" b="1" dirty="0"/>
              <a:t>）</a:t>
            </a:r>
          </a:p>
        </p:txBody>
      </p:sp>
      <p:pic>
        <p:nvPicPr>
          <p:cNvPr id="4" name="图片 3" descr="图示, 工程绘图&#10;&#10;描述已自动生成">
            <a:extLst>
              <a:ext uri="{FF2B5EF4-FFF2-40B4-BE49-F238E27FC236}">
                <a16:creationId xmlns:a16="http://schemas.microsoft.com/office/drawing/2014/main" id="{055F5203-72D2-8748-63C5-B31868FE64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9069" y="1690689"/>
            <a:ext cx="4765862" cy="4138583"/>
          </a:xfrm>
          <a:prstGeom prst="rect">
            <a:avLst/>
          </a:prstGeom>
        </p:spPr>
      </p:pic>
    </p:spTree>
    <p:extLst>
      <p:ext uri="{BB962C8B-B14F-4D97-AF65-F5344CB8AC3E}">
        <p14:creationId xmlns:p14="http://schemas.microsoft.com/office/powerpoint/2010/main" val="1071059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AF505-1235-9B3F-3397-36B722D82139}"/>
              </a:ext>
            </a:extLst>
          </p:cNvPr>
          <p:cNvSpPr>
            <a:spLocks noGrp="1"/>
          </p:cNvSpPr>
          <p:nvPr>
            <p:ph type="title"/>
          </p:nvPr>
        </p:nvSpPr>
        <p:spPr/>
        <p:txBody>
          <a:bodyPr/>
          <a:lstStyle/>
          <a:p>
            <a:r>
              <a:rPr lang="zh-CN" altLang="en-US" b="1" dirty="0"/>
              <a:t>流水线处理器设计（</a:t>
            </a:r>
            <a:r>
              <a:rPr lang="en-US" altLang="zh-CN" b="1" dirty="0"/>
              <a:t>Mem</a:t>
            </a:r>
            <a:r>
              <a:rPr lang="zh-CN" altLang="en-US" b="1" dirty="0"/>
              <a:t>）</a:t>
            </a:r>
          </a:p>
        </p:txBody>
      </p:sp>
      <p:pic>
        <p:nvPicPr>
          <p:cNvPr id="4" name="图片 3" descr="图示, 示意图&#10;&#10;描述已自动生成">
            <a:extLst>
              <a:ext uri="{FF2B5EF4-FFF2-40B4-BE49-F238E27FC236}">
                <a16:creationId xmlns:a16="http://schemas.microsoft.com/office/drawing/2014/main" id="{1A1DD834-F484-AE76-A613-84C122E9DD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6968" y="1690689"/>
            <a:ext cx="4550064" cy="4561037"/>
          </a:xfrm>
          <a:prstGeom prst="rect">
            <a:avLst/>
          </a:prstGeom>
        </p:spPr>
      </p:pic>
    </p:spTree>
    <p:extLst>
      <p:ext uri="{BB962C8B-B14F-4D97-AF65-F5344CB8AC3E}">
        <p14:creationId xmlns:p14="http://schemas.microsoft.com/office/powerpoint/2010/main" val="125187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AF505-1235-9B3F-3397-36B722D82139}"/>
              </a:ext>
            </a:extLst>
          </p:cNvPr>
          <p:cNvSpPr>
            <a:spLocks noGrp="1"/>
          </p:cNvSpPr>
          <p:nvPr>
            <p:ph type="title"/>
          </p:nvPr>
        </p:nvSpPr>
        <p:spPr/>
        <p:txBody>
          <a:bodyPr/>
          <a:lstStyle/>
          <a:p>
            <a:r>
              <a:rPr lang="zh-CN" altLang="en-US" b="1" dirty="0"/>
              <a:t>流水线处理器设计（</a:t>
            </a:r>
            <a:r>
              <a:rPr lang="en-US" altLang="zh-CN" b="1" dirty="0" err="1"/>
              <a:t>Wr</a:t>
            </a:r>
            <a:r>
              <a:rPr lang="zh-CN" altLang="en-US" b="1" dirty="0"/>
              <a:t>）</a:t>
            </a:r>
          </a:p>
        </p:txBody>
      </p:sp>
      <p:pic>
        <p:nvPicPr>
          <p:cNvPr id="4" name="图片 3" descr="图示&#10;&#10;描述已自动生成">
            <a:extLst>
              <a:ext uri="{FF2B5EF4-FFF2-40B4-BE49-F238E27FC236}">
                <a16:creationId xmlns:a16="http://schemas.microsoft.com/office/drawing/2014/main" id="{D10DB975-CE16-96D2-4FD0-C6F4D085A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464" y="1690689"/>
            <a:ext cx="2595072" cy="4114808"/>
          </a:xfrm>
          <a:prstGeom prst="rect">
            <a:avLst/>
          </a:prstGeom>
        </p:spPr>
      </p:pic>
    </p:spTree>
    <p:extLst>
      <p:ext uri="{BB962C8B-B14F-4D97-AF65-F5344CB8AC3E}">
        <p14:creationId xmlns:p14="http://schemas.microsoft.com/office/powerpoint/2010/main" val="1339043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F5EB5-0E67-0228-4218-FFA3342510F4}"/>
              </a:ext>
            </a:extLst>
          </p:cNvPr>
          <p:cNvSpPr>
            <a:spLocks noGrp="1"/>
          </p:cNvSpPr>
          <p:nvPr>
            <p:ph type="title"/>
          </p:nvPr>
        </p:nvSpPr>
        <p:spPr/>
        <p:txBody>
          <a:bodyPr/>
          <a:lstStyle/>
          <a:p>
            <a:r>
              <a:rPr lang="zh-CN" altLang="en-US" b="1" dirty="0"/>
              <a:t>流水线数据通路</a:t>
            </a:r>
          </a:p>
        </p:txBody>
      </p:sp>
      <p:sp>
        <p:nvSpPr>
          <p:cNvPr id="3" name="内容占位符 2">
            <a:extLst>
              <a:ext uri="{FF2B5EF4-FFF2-40B4-BE49-F238E27FC236}">
                <a16:creationId xmlns:a16="http://schemas.microsoft.com/office/drawing/2014/main" id="{826FC345-7D2B-AE25-646B-1F59EFD1DEFA}"/>
              </a:ext>
            </a:extLst>
          </p:cNvPr>
          <p:cNvSpPr>
            <a:spLocks noGrp="1"/>
          </p:cNvSpPr>
          <p:nvPr>
            <p:ph idx="1"/>
          </p:nvPr>
        </p:nvSpPr>
        <p:spPr/>
        <p:txBody>
          <a:bodyPr>
            <a:normAutofit/>
          </a:bodyPr>
          <a:lstStyle/>
          <a:p>
            <a:pPr marL="0" indent="0">
              <a:buNone/>
            </a:pPr>
            <a:endParaRPr lang="en-US" altLang="zh-CN" sz="2400" dirty="0"/>
          </a:p>
          <a:p>
            <a:pPr marL="0" indent="0">
              <a:buNone/>
            </a:pPr>
            <a:r>
              <a:rPr lang="en-US" altLang="zh-CN" sz="2400" dirty="0"/>
              <a:t>    </a:t>
            </a:r>
            <a:r>
              <a:rPr lang="zh-CN" altLang="en-US" sz="2400" dirty="0"/>
              <a:t>受篇幅所限，各类型指令在具备五级流水线结构处理器中的数据通路详见课件相关附件。</a:t>
            </a:r>
          </a:p>
        </p:txBody>
      </p:sp>
    </p:spTree>
    <p:extLst>
      <p:ext uri="{BB962C8B-B14F-4D97-AF65-F5344CB8AC3E}">
        <p14:creationId xmlns:p14="http://schemas.microsoft.com/office/powerpoint/2010/main" val="3989431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AF505-1235-9B3F-3397-36B722D82139}"/>
              </a:ext>
            </a:extLst>
          </p:cNvPr>
          <p:cNvSpPr>
            <a:spLocks noGrp="1"/>
          </p:cNvSpPr>
          <p:nvPr>
            <p:ph type="title"/>
          </p:nvPr>
        </p:nvSpPr>
        <p:spPr/>
        <p:txBody>
          <a:bodyPr/>
          <a:lstStyle/>
          <a:p>
            <a:r>
              <a:rPr lang="zh-CN" altLang="en-US" b="1" dirty="0"/>
              <a:t>控制信号的传递</a:t>
            </a:r>
          </a:p>
        </p:txBody>
      </p:sp>
      <p:pic>
        <p:nvPicPr>
          <p:cNvPr id="4" name="图片 3" descr="图示, 示意图&#10;&#10;描述已自动生成">
            <a:extLst>
              <a:ext uri="{FF2B5EF4-FFF2-40B4-BE49-F238E27FC236}">
                <a16:creationId xmlns:a16="http://schemas.microsoft.com/office/drawing/2014/main" id="{99FF4333-3F13-041D-9411-D844B11A8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182" y="1690689"/>
            <a:ext cx="8373635" cy="3401576"/>
          </a:xfrm>
          <a:prstGeom prst="rect">
            <a:avLst/>
          </a:prstGeom>
        </p:spPr>
      </p:pic>
    </p:spTree>
    <p:extLst>
      <p:ext uri="{BB962C8B-B14F-4D97-AF65-F5344CB8AC3E}">
        <p14:creationId xmlns:p14="http://schemas.microsoft.com/office/powerpoint/2010/main" val="2294899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581014-0774-9ABE-499B-8547BE252925}"/>
              </a:ext>
            </a:extLst>
          </p:cNvPr>
          <p:cNvSpPr>
            <a:spLocks noGrp="1"/>
          </p:cNvSpPr>
          <p:nvPr>
            <p:ph type="title"/>
          </p:nvPr>
        </p:nvSpPr>
        <p:spPr/>
        <p:txBody>
          <a:bodyPr/>
          <a:lstStyle/>
          <a:p>
            <a:r>
              <a:rPr lang="zh-CN" altLang="en-US" b="1" dirty="0"/>
              <a:t>设计参考</a:t>
            </a:r>
            <a:endParaRPr lang="zh-CN" altLang="en-US" dirty="0"/>
          </a:p>
        </p:txBody>
      </p:sp>
      <p:sp>
        <p:nvSpPr>
          <p:cNvPr id="3" name="内容占位符 2">
            <a:extLst>
              <a:ext uri="{FF2B5EF4-FFF2-40B4-BE49-F238E27FC236}">
                <a16:creationId xmlns:a16="http://schemas.microsoft.com/office/drawing/2014/main" id="{1EC61B3D-B8AC-0DEC-C2C6-6A1282C01CA5}"/>
              </a:ext>
            </a:extLst>
          </p:cNvPr>
          <p:cNvSpPr>
            <a:spLocks noGrp="1"/>
          </p:cNvSpPr>
          <p:nvPr>
            <p:ph idx="1"/>
          </p:nvPr>
        </p:nvSpPr>
        <p:spPr/>
        <p:txBody>
          <a:bodyPr>
            <a:normAutofit/>
          </a:bodyPr>
          <a:lstStyle/>
          <a:p>
            <a:pPr marL="0" indent="0">
              <a:buNone/>
            </a:pPr>
            <a:r>
              <a:rPr lang="en-US" altLang="zh-CN" sz="2400" dirty="0"/>
              <a:t>1. </a:t>
            </a:r>
            <a:r>
              <a:rPr lang="zh-CN" altLang="en-US" sz="2400" dirty="0"/>
              <a:t>触发器在</a:t>
            </a:r>
            <a:r>
              <a:rPr lang="en-US" altLang="zh-CN" sz="2400" dirty="0"/>
              <a:t>Verilog HDL</a:t>
            </a:r>
            <a:r>
              <a:rPr lang="zh-CN" altLang="en-US" sz="2400" dirty="0"/>
              <a:t>设计中均定义为</a:t>
            </a:r>
            <a:r>
              <a:rPr lang="en-US" altLang="zh-CN" sz="2400" dirty="0"/>
              <a:t>reg</a:t>
            </a:r>
            <a:r>
              <a:rPr lang="zh-CN" altLang="en-US" sz="2400" dirty="0"/>
              <a:t>（寄存器）类型的变量，该类型变量初值为不定值</a:t>
            </a:r>
            <a:r>
              <a:rPr lang="en-US" altLang="zh-CN" sz="2400" dirty="0"/>
              <a:t>x</a:t>
            </a:r>
            <a:r>
              <a:rPr lang="zh-CN" altLang="en-US" sz="2400" dirty="0"/>
              <a:t>，故需对其赋予初值（或对其进行初始化）才能在仿真过程中正常工作。</a:t>
            </a:r>
            <a:endParaRPr lang="en-US" altLang="zh-CN" sz="2400" dirty="0"/>
          </a:p>
          <a:p>
            <a:pPr marL="0" indent="0">
              <a:buNone/>
            </a:pPr>
            <a:r>
              <a:rPr lang="en-US" altLang="zh-CN" sz="2400" dirty="0"/>
              <a:t>2. </a:t>
            </a:r>
            <a:r>
              <a:rPr lang="zh-CN" altLang="en-US" sz="2400" dirty="0"/>
              <a:t>程序计数器</a:t>
            </a:r>
            <a:r>
              <a:rPr lang="en-US" altLang="zh-CN" sz="2400" dirty="0"/>
              <a:t>PC</a:t>
            </a:r>
            <a:r>
              <a:rPr lang="zh-CN" altLang="en-US" sz="2400" dirty="0"/>
              <a:t>与所有的流水线寄存器均设置有复位信号</a:t>
            </a:r>
            <a:r>
              <a:rPr lang="en-US" altLang="zh-CN" sz="2400" dirty="0"/>
              <a:t>Reset</a:t>
            </a:r>
            <a:r>
              <a:rPr lang="zh-CN" altLang="en-US" sz="2400" dirty="0"/>
              <a:t>，高有效，异步清零。</a:t>
            </a:r>
            <a:endParaRPr lang="en-US" altLang="zh-CN" sz="2400" dirty="0"/>
          </a:p>
          <a:p>
            <a:pPr marL="0" indent="0">
              <a:buNone/>
            </a:pPr>
            <a:r>
              <a:rPr lang="en-US" altLang="zh-CN" sz="2400" dirty="0"/>
              <a:t>3. </a:t>
            </a:r>
            <a:r>
              <a:rPr lang="zh-CN" altLang="en-US" sz="2400" dirty="0"/>
              <a:t>在仿真过程的初始化阶段需先使能复位信号，使程序计数器清零，随后进入正常仿真过程。</a:t>
            </a:r>
            <a:endParaRPr lang="en-US" altLang="zh-CN" sz="2400" dirty="0"/>
          </a:p>
        </p:txBody>
      </p:sp>
    </p:spTree>
    <p:extLst>
      <p:ext uri="{BB962C8B-B14F-4D97-AF65-F5344CB8AC3E}">
        <p14:creationId xmlns:p14="http://schemas.microsoft.com/office/powerpoint/2010/main" val="100866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529975-4898-2B90-E019-98D21D6BFEA3}"/>
              </a:ext>
            </a:extLst>
          </p:cNvPr>
          <p:cNvSpPr>
            <a:spLocks noGrp="1"/>
          </p:cNvSpPr>
          <p:nvPr>
            <p:ph type="title"/>
          </p:nvPr>
        </p:nvSpPr>
        <p:spPr/>
        <p:txBody>
          <a:bodyPr/>
          <a:lstStyle/>
          <a:p>
            <a:r>
              <a:rPr lang="zh-CN" altLang="en-US" b="1" dirty="0"/>
              <a:t>设计参考</a:t>
            </a:r>
            <a:endParaRPr lang="zh-CN" altLang="en-US" dirty="0"/>
          </a:p>
        </p:txBody>
      </p:sp>
      <p:sp>
        <p:nvSpPr>
          <p:cNvPr id="3" name="内容占位符 2">
            <a:extLst>
              <a:ext uri="{FF2B5EF4-FFF2-40B4-BE49-F238E27FC236}">
                <a16:creationId xmlns:a16="http://schemas.microsoft.com/office/drawing/2014/main" id="{431D8D0F-8294-DDED-A74B-B4DE8684441E}"/>
              </a:ext>
            </a:extLst>
          </p:cNvPr>
          <p:cNvSpPr>
            <a:spLocks noGrp="1"/>
          </p:cNvSpPr>
          <p:nvPr>
            <p:ph idx="1"/>
          </p:nvPr>
        </p:nvSpPr>
        <p:spPr/>
        <p:txBody>
          <a:bodyPr>
            <a:normAutofit lnSpcReduction="10000"/>
          </a:bodyPr>
          <a:lstStyle/>
          <a:p>
            <a:pPr marL="0" indent="0">
              <a:lnSpc>
                <a:spcPct val="100000"/>
              </a:lnSpc>
              <a:spcBef>
                <a:spcPts val="0"/>
              </a:spcBef>
              <a:buNone/>
            </a:pPr>
            <a:r>
              <a:rPr lang="en-US" altLang="zh-CN" sz="2400"/>
              <a:t>4. </a:t>
            </a:r>
            <a:r>
              <a:rPr lang="zh-CN" altLang="en-US" sz="2400" dirty="0"/>
              <a:t>激励文件</a:t>
            </a:r>
            <a:r>
              <a:rPr lang="en-US" altLang="zh-CN" sz="2400" dirty="0"/>
              <a:t>Verilog Test Fixture</a:t>
            </a:r>
            <a:r>
              <a:rPr lang="zh-CN" altLang="en-US" sz="2400" dirty="0"/>
              <a:t>可参考如下代码：</a:t>
            </a:r>
            <a:endParaRPr lang="en-US" altLang="zh-CN" sz="2400" dirty="0"/>
          </a:p>
          <a:p>
            <a:pPr marL="0" indent="0">
              <a:lnSpc>
                <a:spcPct val="100000"/>
              </a:lnSpc>
              <a:buNone/>
            </a:pPr>
            <a:r>
              <a:rPr lang="en-US" altLang="zh-CN" sz="2400" dirty="0"/>
              <a:t>        module xxx;		//</a:t>
            </a:r>
            <a:r>
              <a:rPr lang="zh-CN" altLang="en-US" sz="2400" dirty="0"/>
              <a:t>激励文件；</a:t>
            </a:r>
            <a:endParaRPr lang="en-US" altLang="zh-CN" sz="2400" dirty="0"/>
          </a:p>
          <a:p>
            <a:pPr marL="0" indent="0">
              <a:lnSpc>
                <a:spcPct val="100000"/>
              </a:lnSpc>
              <a:spcBef>
                <a:spcPts val="0"/>
              </a:spcBef>
              <a:buNone/>
            </a:pPr>
            <a:r>
              <a:rPr lang="en-US" altLang="zh-CN" sz="2400" dirty="0"/>
              <a:t>	…			//</a:t>
            </a:r>
            <a:r>
              <a:rPr lang="zh-CN" altLang="en-US" sz="2400" dirty="0"/>
              <a:t>仿真模块实例化；</a:t>
            </a:r>
            <a:endParaRPr lang="en-US" altLang="zh-CN" sz="2400" dirty="0"/>
          </a:p>
          <a:p>
            <a:pPr marL="0" indent="0">
              <a:lnSpc>
                <a:spcPct val="100000"/>
              </a:lnSpc>
              <a:spcBef>
                <a:spcPts val="0"/>
              </a:spcBef>
              <a:buNone/>
            </a:pPr>
            <a:r>
              <a:rPr lang="en-US" altLang="zh-CN" sz="2400" dirty="0"/>
              <a:t>	initial begin		//</a:t>
            </a:r>
            <a:r>
              <a:rPr lang="zh-CN" altLang="en-US" sz="2400" dirty="0"/>
              <a:t>激励信号设置；</a:t>
            </a:r>
            <a:endParaRPr lang="en-US" altLang="zh-CN" sz="2400" dirty="0"/>
          </a:p>
          <a:p>
            <a:pPr marL="0" indent="0">
              <a:lnSpc>
                <a:spcPct val="100000"/>
              </a:lnSpc>
              <a:spcBef>
                <a:spcPts val="0"/>
              </a:spcBef>
              <a:buNone/>
            </a:pPr>
            <a:r>
              <a:rPr lang="en-US" altLang="zh-CN" sz="2400" dirty="0"/>
              <a:t>	    // Initialize Inputs</a:t>
            </a:r>
          </a:p>
          <a:p>
            <a:pPr marL="0" indent="0">
              <a:lnSpc>
                <a:spcPct val="100000"/>
              </a:lnSpc>
              <a:spcBef>
                <a:spcPts val="0"/>
              </a:spcBef>
              <a:buNone/>
            </a:pPr>
            <a:r>
              <a:rPr lang="en-US" altLang="zh-CN" sz="2400" dirty="0"/>
              <a:t>                 </a:t>
            </a:r>
            <a:r>
              <a:rPr lang="en-US" altLang="zh-CN" sz="2400" dirty="0" err="1"/>
              <a:t>Clk</a:t>
            </a:r>
            <a:r>
              <a:rPr lang="en-US" altLang="zh-CN" sz="2400" dirty="0"/>
              <a:t> = 0;		//</a:t>
            </a:r>
            <a:r>
              <a:rPr lang="zh-CN" altLang="en-US" sz="2400" dirty="0"/>
              <a:t>时钟信号初始化；</a:t>
            </a:r>
            <a:endParaRPr lang="en-US" altLang="zh-CN" sz="2400" dirty="0"/>
          </a:p>
          <a:p>
            <a:pPr marL="0" indent="0">
              <a:lnSpc>
                <a:spcPct val="100000"/>
              </a:lnSpc>
              <a:spcBef>
                <a:spcPts val="0"/>
              </a:spcBef>
              <a:buNone/>
            </a:pPr>
            <a:r>
              <a:rPr lang="en-US" altLang="zh-CN" sz="2400" dirty="0">
                <a:solidFill>
                  <a:srgbClr val="FF0000"/>
                </a:solidFill>
              </a:rPr>
              <a:t>	    Reset = 1;		//</a:t>
            </a:r>
            <a:r>
              <a:rPr lang="zh-CN" altLang="en-US" sz="2400" dirty="0">
                <a:solidFill>
                  <a:srgbClr val="FF0000"/>
                </a:solidFill>
              </a:rPr>
              <a:t>程序计数器复位</a:t>
            </a:r>
            <a:endParaRPr lang="en-US" altLang="zh-CN" sz="2400" dirty="0">
              <a:solidFill>
                <a:srgbClr val="FF0000"/>
              </a:solidFill>
            </a:endParaRPr>
          </a:p>
          <a:p>
            <a:pPr marL="0" indent="0">
              <a:lnSpc>
                <a:spcPct val="100000"/>
              </a:lnSpc>
              <a:spcBef>
                <a:spcPts val="0"/>
              </a:spcBef>
              <a:buNone/>
            </a:pPr>
            <a:r>
              <a:rPr lang="en-US" altLang="zh-CN" sz="2400" dirty="0"/>
              <a:t>	    #100</a:t>
            </a:r>
            <a:r>
              <a:rPr lang="zh-CN" altLang="en-US" sz="2400" dirty="0"/>
              <a:t>；</a:t>
            </a:r>
            <a:r>
              <a:rPr lang="en-US" altLang="zh-CN" sz="2400" dirty="0"/>
              <a:t>		//</a:t>
            </a:r>
            <a:r>
              <a:rPr lang="zh-CN" altLang="en-US" sz="2400" dirty="0"/>
              <a:t>等待复位</a:t>
            </a:r>
            <a:endParaRPr lang="en-US" altLang="zh-CN" sz="2400" dirty="0"/>
          </a:p>
          <a:p>
            <a:pPr marL="0" indent="0">
              <a:lnSpc>
                <a:spcPct val="100000"/>
              </a:lnSpc>
              <a:spcBef>
                <a:spcPts val="0"/>
              </a:spcBef>
              <a:buNone/>
            </a:pPr>
            <a:r>
              <a:rPr lang="en-US" altLang="zh-CN" sz="2400" dirty="0">
                <a:solidFill>
                  <a:srgbClr val="FF0000"/>
                </a:solidFill>
              </a:rPr>
              <a:t>	    Reset = 0;		//</a:t>
            </a:r>
            <a:r>
              <a:rPr lang="zh-CN" altLang="en-US" sz="2400" dirty="0">
                <a:solidFill>
                  <a:srgbClr val="FF0000"/>
                </a:solidFill>
              </a:rPr>
              <a:t>复位结束</a:t>
            </a:r>
            <a:endParaRPr lang="en-US" altLang="zh-CN" sz="2400" dirty="0">
              <a:solidFill>
                <a:srgbClr val="FF0000"/>
              </a:solidFill>
            </a:endParaRPr>
          </a:p>
          <a:p>
            <a:pPr marL="0" indent="0">
              <a:lnSpc>
                <a:spcPct val="100000"/>
              </a:lnSpc>
              <a:spcBef>
                <a:spcPts val="0"/>
              </a:spcBef>
              <a:buNone/>
            </a:pPr>
            <a:r>
              <a:rPr lang="en-US" altLang="zh-CN" sz="2400" dirty="0"/>
              <a:t>	end			//</a:t>
            </a:r>
            <a:r>
              <a:rPr lang="zh-CN" altLang="en-US" sz="2400" dirty="0"/>
              <a:t>激励信号内容结束；</a:t>
            </a:r>
            <a:endParaRPr lang="en-US" altLang="zh-CN" sz="2400" dirty="0"/>
          </a:p>
          <a:p>
            <a:pPr marL="0" indent="0">
              <a:lnSpc>
                <a:spcPct val="100000"/>
              </a:lnSpc>
              <a:spcBef>
                <a:spcPts val="0"/>
              </a:spcBef>
              <a:buNone/>
            </a:pPr>
            <a:r>
              <a:rPr lang="en-US" altLang="zh-CN" sz="2400" dirty="0"/>
              <a:t>	</a:t>
            </a:r>
            <a:r>
              <a:rPr lang="en-US" altLang="zh-CN" sz="2400" dirty="0">
                <a:solidFill>
                  <a:srgbClr val="FF0000"/>
                </a:solidFill>
              </a:rPr>
              <a:t>always #50 </a:t>
            </a:r>
            <a:r>
              <a:rPr lang="en-US" altLang="zh-CN" sz="2400" dirty="0" err="1">
                <a:solidFill>
                  <a:srgbClr val="FF0000"/>
                </a:solidFill>
              </a:rPr>
              <a:t>Clk</a:t>
            </a:r>
            <a:r>
              <a:rPr lang="en-US" altLang="zh-CN" sz="2400" dirty="0">
                <a:solidFill>
                  <a:srgbClr val="FF0000"/>
                </a:solidFill>
              </a:rPr>
              <a:t> = ~</a:t>
            </a:r>
            <a:r>
              <a:rPr lang="en-US" altLang="zh-CN" sz="2400" dirty="0" err="1">
                <a:solidFill>
                  <a:srgbClr val="FF0000"/>
                </a:solidFill>
              </a:rPr>
              <a:t>Clk</a:t>
            </a:r>
            <a:r>
              <a:rPr lang="en-US" altLang="zh-CN" sz="2400" dirty="0">
                <a:solidFill>
                  <a:srgbClr val="FF0000"/>
                </a:solidFill>
              </a:rPr>
              <a:t>;	//</a:t>
            </a:r>
            <a:r>
              <a:rPr lang="zh-CN" altLang="en-US" sz="2400" dirty="0">
                <a:solidFill>
                  <a:srgbClr val="FF0000"/>
                </a:solidFill>
              </a:rPr>
              <a:t>生成周期为</a:t>
            </a:r>
            <a:r>
              <a:rPr lang="en-US" altLang="zh-CN" sz="2400" dirty="0">
                <a:solidFill>
                  <a:srgbClr val="FF0000"/>
                </a:solidFill>
              </a:rPr>
              <a:t>100</a:t>
            </a:r>
            <a:r>
              <a:rPr lang="zh-CN" altLang="en-US" sz="2400" dirty="0">
                <a:solidFill>
                  <a:srgbClr val="FF0000"/>
                </a:solidFill>
              </a:rPr>
              <a:t>的时钟信号；</a:t>
            </a:r>
            <a:endParaRPr lang="en-US" altLang="zh-CN" sz="2400" dirty="0">
              <a:solidFill>
                <a:srgbClr val="FF0000"/>
              </a:solidFill>
            </a:endParaRPr>
          </a:p>
          <a:p>
            <a:pPr marL="0" indent="0">
              <a:lnSpc>
                <a:spcPct val="100000"/>
              </a:lnSpc>
              <a:spcBef>
                <a:spcPts val="0"/>
              </a:spcBef>
              <a:buNone/>
            </a:pPr>
            <a:r>
              <a:rPr lang="en-US" altLang="zh-CN" sz="2400" dirty="0"/>
              <a:t>        </a:t>
            </a:r>
            <a:r>
              <a:rPr lang="en-US" altLang="zh-CN" sz="2400" dirty="0" err="1"/>
              <a:t>endmodule</a:t>
            </a:r>
            <a:r>
              <a:rPr lang="en-US" altLang="zh-CN" sz="2400" dirty="0"/>
              <a:t>		//</a:t>
            </a:r>
            <a:r>
              <a:rPr lang="zh-CN" altLang="en-US" sz="2400" dirty="0"/>
              <a:t>激励文件结束；</a:t>
            </a:r>
            <a:endParaRPr lang="en-US" altLang="zh-CN" sz="2400" dirty="0"/>
          </a:p>
        </p:txBody>
      </p:sp>
    </p:spTree>
    <p:extLst>
      <p:ext uri="{BB962C8B-B14F-4D97-AF65-F5344CB8AC3E}">
        <p14:creationId xmlns:p14="http://schemas.microsoft.com/office/powerpoint/2010/main" val="1685036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F26522-E130-C551-7791-1EB955790375}"/>
              </a:ext>
            </a:extLst>
          </p:cNvPr>
          <p:cNvSpPr>
            <a:spLocks noGrp="1"/>
          </p:cNvSpPr>
          <p:nvPr>
            <p:ph type="title"/>
          </p:nvPr>
        </p:nvSpPr>
        <p:spPr/>
        <p:txBody>
          <a:bodyPr/>
          <a:lstStyle/>
          <a:p>
            <a:r>
              <a:rPr lang="zh-CN" altLang="en-US" b="1" dirty="0"/>
              <a:t>实验要求</a:t>
            </a:r>
          </a:p>
        </p:txBody>
      </p:sp>
      <p:sp>
        <p:nvSpPr>
          <p:cNvPr id="3" name="内容占位符 2">
            <a:extLst>
              <a:ext uri="{FF2B5EF4-FFF2-40B4-BE49-F238E27FC236}">
                <a16:creationId xmlns:a16="http://schemas.microsoft.com/office/drawing/2014/main" id="{9618AC8D-0042-AB53-20C7-627C462E7117}"/>
              </a:ext>
            </a:extLst>
          </p:cNvPr>
          <p:cNvSpPr>
            <a:spLocks noGrp="1"/>
          </p:cNvSpPr>
          <p:nvPr>
            <p:ph idx="1"/>
          </p:nvPr>
        </p:nvSpPr>
        <p:spPr>
          <a:xfrm>
            <a:off x="628650" y="1825624"/>
            <a:ext cx="7886700" cy="4978131"/>
          </a:xfrm>
        </p:spPr>
        <p:txBody>
          <a:bodyPr>
            <a:normAutofit/>
          </a:bodyPr>
          <a:lstStyle/>
          <a:p>
            <a:pPr marL="0" indent="0">
              <a:lnSpc>
                <a:spcPct val="100000"/>
              </a:lnSpc>
              <a:buNone/>
            </a:pPr>
            <a:r>
              <a:rPr lang="en-US" altLang="zh-CN" sz="2400" dirty="0"/>
              <a:t>1. </a:t>
            </a:r>
            <a:r>
              <a:rPr lang="zh-CN" altLang="en-US" sz="2400" dirty="0"/>
              <a:t>阅读流水线</a:t>
            </a:r>
            <a:r>
              <a:rPr lang="en-US" altLang="zh-CN" sz="2400" dirty="0"/>
              <a:t>CPU</a:t>
            </a:r>
            <a:r>
              <a:rPr lang="zh-CN" altLang="en-US" sz="2400" dirty="0"/>
              <a:t>中各部件模块代码，理解其接口含义与工作逻辑；</a:t>
            </a:r>
            <a:endParaRPr lang="en-US" altLang="zh-CN" sz="2400" dirty="0"/>
          </a:p>
          <a:p>
            <a:pPr marL="0" indent="0">
              <a:lnSpc>
                <a:spcPct val="100000"/>
              </a:lnSpc>
              <a:buNone/>
            </a:pPr>
            <a:r>
              <a:rPr lang="en-US" altLang="zh-CN" sz="2400" dirty="0"/>
              <a:t>2. </a:t>
            </a:r>
            <a:r>
              <a:rPr lang="zh-CN" altLang="en-US" sz="2400" dirty="0"/>
              <a:t>参照五级流水线结构，完成</a:t>
            </a:r>
            <a:r>
              <a:rPr lang="en-US" altLang="zh-CN" sz="2400" dirty="0"/>
              <a:t>IF</a:t>
            </a:r>
            <a:r>
              <a:rPr lang="zh-CN" altLang="en-US" sz="2400" dirty="0"/>
              <a:t>、</a:t>
            </a:r>
            <a:r>
              <a:rPr lang="en-US" altLang="zh-CN" sz="2400" dirty="0"/>
              <a:t>ID</a:t>
            </a:r>
            <a:r>
              <a:rPr lang="zh-CN" altLang="en-US" sz="2400" dirty="0"/>
              <a:t>、</a:t>
            </a:r>
            <a:r>
              <a:rPr lang="en-US" altLang="zh-CN" sz="2400" dirty="0"/>
              <a:t>EX</a:t>
            </a:r>
            <a:r>
              <a:rPr lang="zh-CN" altLang="en-US" sz="2400" dirty="0"/>
              <a:t>、</a:t>
            </a:r>
            <a:r>
              <a:rPr lang="en-US" altLang="zh-CN" sz="2400" dirty="0"/>
              <a:t>MEM</a:t>
            </a:r>
            <a:r>
              <a:rPr lang="zh-CN" altLang="en-US" sz="2400" dirty="0"/>
              <a:t>、</a:t>
            </a:r>
            <a:r>
              <a:rPr lang="en-US" altLang="zh-CN" sz="2400" dirty="0"/>
              <a:t>WR</a:t>
            </a:r>
            <a:r>
              <a:rPr lang="zh-CN" altLang="en-US" sz="2400" dirty="0"/>
              <a:t>流水功能段（分别对应</a:t>
            </a:r>
            <a:r>
              <a:rPr lang="en-US" altLang="zh-CN" sz="2400" dirty="0"/>
              <a:t>STAGE_IF</a:t>
            </a:r>
            <a:r>
              <a:rPr lang="zh-CN" altLang="en-US" sz="2400" dirty="0"/>
              <a:t>、</a:t>
            </a:r>
            <a:r>
              <a:rPr lang="en-US" altLang="zh-CN" sz="2400" dirty="0"/>
              <a:t>STAGE_ID</a:t>
            </a:r>
            <a:r>
              <a:rPr lang="zh-CN" altLang="en-US" sz="2400" dirty="0"/>
              <a:t>、</a:t>
            </a:r>
            <a:r>
              <a:rPr lang="en-US" altLang="zh-CN" sz="2400" dirty="0"/>
              <a:t>STAGE_EX</a:t>
            </a:r>
            <a:r>
              <a:rPr lang="zh-CN" altLang="en-US" sz="2400" dirty="0"/>
              <a:t>、</a:t>
            </a:r>
            <a:r>
              <a:rPr lang="en-US" altLang="zh-CN" sz="2400" dirty="0"/>
              <a:t>STAGE_MEM</a:t>
            </a:r>
            <a:r>
              <a:rPr lang="zh-CN" altLang="en-US" sz="2400" dirty="0"/>
              <a:t>、</a:t>
            </a:r>
            <a:r>
              <a:rPr lang="en-US" altLang="zh-CN" sz="2400" dirty="0"/>
              <a:t>STAGE_WR</a:t>
            </a:r>
            <a:r>
              <a:rPr lang="zh-CN" altLang="en-US" sz="2400" dirty="0"/>
              <a:t>模块）的设计，向模块中添加功能逻辑部分内容，并进行仿真验证；</a:t>
            </a:r>
            <a:endParaRPr lang="en-US" altLang="zh-CN" sz="2400" dirty="0"/>
          </a:p>
          <a:p>
            <a:pPr marL="0" indent="0">
              <a:lnSpc>
                <a:spcPct val="100000"/>
              </a:lnSpc>
              <a:buNone/>
            </a:pPr>
            <a:r>
              <a:rPr lang="en-US" altLang="zh-CN" sz="2400" dirty="0"/>
              <a:t>3. </a:t>
            </a:r>
            <a:r>
              <a:rPr lang="zh-CN" altLang="en-US" sz="2400" dirty="0"/>
              <a:t>设计指令序列对所实现的流水线处理器进行仿真验证，结合指令序列与仿真波形分析实验结果。</a:t>
            </a:r>
            <a:endParaRPr lang="en-US" altLang="zh-CN" sz="2400" dirty="0"/>
          </a:p>
          <a:p>
            <a:pPr marL="0" indent="0">
              <a:lnSpc>
                <a:spcPct val="100000"/>
              </a:lnSpc>
              <a:buNone/>
            </a:pPr>
            <a:r>
              <a:rPr lang="zh-CN" altLang="en-US" sz="2400" dirty="0">
                <a:solidFill>
                  <a:srgbClr val="FF0000"/>
                </a:solidFill>
              </a:rPr>
              <a:t>注：</a:t>
            </a:r>
            <a:r>
              <a:rPr lang="zh-CN" altLang="en-US" sz="2400" dirty="0"/>
              <a:t>可沿用单周期处理器设计实验中所设计的指令序列，但基础流水线结构并未考虑流水线中存在的冒险问题，如因指令序列中存在冒险问题而无法得到正确结果，需对指令执行过程进行分析，说明指令不能正常执行的原因。</a:t>
            </a:r>
          </a:p>
          <a:p>
            <a:pPr marL="0" indent="0">
              <a:lnSpc>
                <a:spcPct val="100000"/>
              </a:lnSpc>
              <a:buNone/>
            </a:pPr>
            <a:endParaRPr lang="en-US" altLang="zh-CN" sz="2400" dirty="0"/>
          </a:p>
        </p:txBody>
      </p:sp>
    </p:spTree>
    <p:extLst>
      <p:ext uri="{BB962C8B-B14F-4D97-AF65-F5344CB8AC3E}">
        <p14:creationId xmlns:p14="http://schemas.microsoft.com/office/powerpoint/2010/main" val="1980927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A536B3-A156-2996-9534-16EAFA244FF7}"/>
              </a:ext>
            </a:extLst>
          </p:cNvPr>
          <p:cNvSpPr>
            <a:spLocks noGrp="1"/>
          </p:cNvSpPr>
          <p:nvPr>
            <p:ph type="title"/>
          </p:nvPr>
        </p:nvSpPr>
        <p:spPr/>
        <p:txBody>
          <a:bodyPr/>
          <a:lstStyle/>
          <a:p>
            <a:r>
              <a:rPr lang="zh-CN" altLang="en-US" b="1" dirty="0"/>
              <a:t>课后作业</a:t>
            </a:r>
          </a:p>
        </p:txBody>
      </p:sp>
      <p:sp>
        <p:nvSpPr>
          <p:cNvPr id="3" name="内容占位符 2">
            <a:extLst>
              <a:ext uri="{FF2B5EF4-FFF2-40B4-BE49-F238E27FC236}">
                <a16:creationId xmlns:a16="http://schemas.microsoft.com/office/drawing/2014/main" id="{6F1F21EB-8FD9-823A-A6F1-B3E006CF51B5}"/>
              </a:ext>
            </a:extLst>
          </p:cNvPr>
          <p:cNvSpPr>
            <a:spLocks noGrp="1"/>
          </p:cNvSpPr>
          <p:nvPr>
            <p:ph idx="1"/>
          </p:nvPr>
        </p:nvSpPr>
        <p:spPr/>
        <p:txBody>
          <a:bodyPr/>
          <a:lstStyle/>
          <a:p>
            <a:pPr marL="0" indent="0">
              <a:buNone/>
            </a:pPr>
            <a:r>
              <a:rPr lang="en-US" altLang="zh-CN" dirty="0"/>
              <a:t>1. </a:t>
            </a:r>
            <a:r>
              <a:rPr lang="zh-CN" altLang="en-US" dirty="0"/>
              <a:t>阅读教材</a:t>
            </a:r>
            <a:r>
              <a:rPr lang="en-US" altLang="zh-CN" dirty="0"/>
              <a:t>6.3.2</a:t>
            </a:r>
            <a:r>
              <a:rPr lang="zh-CN" altLang="en-US" dirty="0"/>
              <a:t>小节“数据冒险”，理解流水线结构中数据冒险的成因及解决方法。</a:t>
            </a:r>
            <a:endParaRPr lang="en-US" altLang="zh-CN" dirty="0"/>
          </a:p>
          <a:p>
            <a:pPr marL="0" indent="0">
              <a:buNone/>
            </a:pPr>
            <a:r>
              <a:rPr lang="en-US" altLang="zh-CN" dirty="0"/>
              <a:t>2. </a:t>
            </a:r>
            <a:r>
              <a:rPr lang="zh-CN" altLang="en-US" dirty="0"/>
              <a:t>思考下列</a:t>
            </a:r>
            <a:r>
              <a:rPr lang="en-US" altLang="zh-CN" dirty="0"/>
              <a:t>5</a:t>
            </a:r>
            <a:r>
              <a:rPr lang="zh-CN" altLang="en-US" dirty="0"/>
              <a:t>条指令的指令序列，思考第</a:t>
            </a:r>
            <a:r>
              <a:rPr lang="en-US" altLang="zh-CN" dirty="0"/>
              <a:t>2-5</a:t>
            </a:r>
            <a:r>
              <a:rPr lang="zh-CN" altLang="en-US" dirty="0"/>
              <a:t>条指令与第</a:t>
            </a:r>
            <a:r>
              <a:rPr lang="en-US" altLang="zh-CN" dirty="0"/>
              <a:t>1</a:t>
            </a:r>
            <a:r>
              <a:rPr lang="zh-CN" altLang="en-US" dirty="0"/>
              <a:t>条指令之间是否存在数据冒险？其产生的原因何在？</a:t>
            </a:r>
            <a:endParaRPr lang="en-US" altLang="zh-CN" dirty="0"/>
          </a:p>
          <a:p>
            <a:pPr marL="0" indent="0">
              <a:buNone/>
            </a:pPr>
            <a:r>
              <a:rPr lang="en-US" altLang="zh-CN" dirty="0"/>
              <a:t>3. </a:t>
            </a:r>
            <a:r>
              <a:rPr lang="zh-CN" altLang="en-US" dirty="0"/>
              <a:t>第</a:t>
            </a:r>
            <a:r>
              <a:rPr lang="en-US" altLang="zh-CN" dirty="0"/>
              <a:t>1</a:t>
            </a:r>
            <a:r>
              <a:rPr lang="zh-CN" altLang="en-US" dirty="0"/>
              <a:t>与第</a:t>
            </a:r>
            <a:r>
              <a:rPr lang="en-US" altLang="zh-CN" dirty="0"/>
              <a:t>4</a:t>
            </a:r>
            <a:r>
              <a:rPr lang="zh-CN" altLang="en-US" dirty="0"/>
              <a:t>条指令间的冒险问题如何处理最简单？尝试对已实现的流水线处理器结构进行修改，解决第</a:t>
            </a:r>
            <a:r>
              <a:rPr lang="en-US" altLang="zh-CN" dirty="0"/>
              <a:t>1</a:t>
            </a:r>
            <a:r>
              <a:rPr lang="zh-CN" altLang="en-US" dirty="0"/>
              <a:t>、第</a:t>
            </a:r>
            <a:r>
              <a:rPr lang="en-US" altLang="zh-CN" dirty="0"/>
              <a:t>4</a:t>
            </a:r>
            <a:r>
              <a:rPr lang="zh-CN" altLang="en-US" dirty="0"/>
              <a:t>条指令间的冒险问题，并进行仿真验证。</a:t>
            </a:r>
          </a:p>
        </p:txBody>
      </p:sp>
    </p:spTree>
    <p:extLst>
      <p:ext uri="{BB962C8B-B14F-4D97-AF65-F5344CB8AC3E}">
        <p14:creationId xmlns:p14="http://schemas.microsoft.com/office/powerpoint/2010/main" val="537966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A536B3-A156-2996-9534-16EAFA244FF7}"/>
              </a:ext>
            </a:extLst>
          </p:cNvPr>
          <p:cNvSpPr>
            <a:spLocks noGrp="1"/>
          </p:cNvSpPr>
          <p:nvPr>
            <p:ph type="title"/>
          </p:nvPr>
        </p:nvSpPr>
        <p:spPr/>
        <p:txBody>
          <a:bodyPr/>
          <a:lstStyle/>
          <a:p>
            <a:r>
              <a:rPr lang="zh-CN" altLang="en-US" b="1" dirty="0"/>
              <a:t>课后作业</a:t>
            </a:r>
          </a:p>
        </p:txBody>
      </p:sp>
      <p:sp>
        <p:nvSpPr>
          <p:cNvPr id="3" name="内容占位符 2">
            <a:extLst>
              <a:ext uri="{FF2B5EF4-FFF2-40B4-BE49-F238E27FC236}">
                <a16:creationId xmlns:a16="http://schemas.microsoft.com/office/drawing/2014/main" id="{6F1F21EB-8FD9-823A-A6F1-B3E006CF51B5}"/>
              </a:ext>
            </a:extLst>
          </p:cNvPr>
          <p:cNvSpPr>
            <a:spLocks noGrp="1"/>
          </p:cNvSpPr>
          <p:nvPr>
            <p:ph idx="1"/>
          </p:nvPr>
        </p:nvSpPr>
        <p:spPr/>
        <p:txBody>
          <a:bodyPr/>
          <a:lstStyle/>
          <a:p>
            <a:pPr marL="0" indent="0">
              <a:buNone/>
            </a:pPr>
            <a:endParaRPr lang="en-US" altLang="zh-CN" dirty="0"/>
          </a:p>
          <a:p>
            <a:pPr marL="0" indent="0">
              <a:buNone/>
            </a:pPr>
            <a:r>
              <a:rPr lang="en-US" altLang="zh-CN" dirty="0"/>
              <a:t>                add  $1,  $2,  $3;</a:t>
            </a:r>
          </a:p>
          <a:p>
            <a:pPr marL="0" indent="0">
              <a:buNone/>
            </a:pPr>
            <a:r>
              <a:rPr lang="en-US" altLang="zh-CN" dirty="0"/>
              <a:t>                sub  $4,  $1,  $3;</a:t>
            </a:r>
          </a:p>
          <a:p>
            <a:pPr marL="0" indent="0">
              <a:buNone/>
            </a:pPr>
            <a:r>
              <a:rPr lang="en-US" altLang="zh-CN" dirty="0"/>
              <a:t>                </a:t>
            </a:r>
            <a:r>
              <a:rPr lang="en-US" altLang="zh-CN" dirty="0" err="1"/>
              <a:t>subu</a:t>
            </a:r>
            <a:r>
              <a:rPr lang="en-US" altLang="zh-CN" dirty="0"/>
              <a:t>  $8,  $1,  $9;</a:t>
            </a:r>
          </a:p>
          <a:p>
            <a:pPr marL="0" indent="0">
              <a:buNone/>
            </a:pPr>
            <a:r>
              <a:rPr lang="en-US" altLang="zh-CN" dirty="0"/>
              <a:t>                </a:t>
            </a:r>
            <a:r>
              <a:rPr lang="en-US" altLang="zh-CN" dirty="0" err="1"/>
              <a:t>ori</a:t>
            </a:r>
            <a:r>
              <a:rPr lang="en-US" altLang="zh-CN" dirty="0"/>
              <a:t>  $6,  $1,  </a:t>
            </a:r>
            <a:r>
              <a:rPr lang="en-US" altLang="zh-CN" dirty="0" err="1"/>
              <a:t>0x800a</a:t>
            </a:r>
            <a:r>
              <a:rPr lang="en-US" altLang="zh-CN" dirty="0"/>
              <a:t>;</a:t>
            </a:r>
          </a:p>
          <a:p>
            <a:pPr marL="0" indent="0">
              <a:buNone/>
            </a:pPr>
            <a:r>
              <a:rPr lang="en-US" altLang="zh-CN" dirty="0"/>
              <a:t>                </a:t>
            </a:r>
            <a:r>
              <a:rPr lang="en-US" altLang="zh-CN" dirty="0" err="1"/>
              <a:t>slt</a:t>
            </a:r>
            <a:r>
              <a:rPr lang="en-US" altLang="zh-CN" dirty="0"/>
              <a:t>  $3,  $1,  $5;</a:t>
            </a:r>
            <a:endParaRPr lang="zh-CN" altLang="en-US" dirty="0"/>
          </a:p>
        </p:txBody>
      </p:sp>
    </p:spTree>
    <p:extLst>
      <p:ext uri="{BB962C8B-B14F-4D97-AF65-F5344CB8AC3E}">
        <p14:creationId xmlns:p14="http://schemas.microsoft.com/office/powerpoint/2010/main" val="3001595728"/>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3343</TotalTime>
  <Words>855</Words>
  <Application>Microsoft Office PowerPoint</Application>
  <PresentationFormat>全屏显示(4:3)</PresentationFormat>
  <Paragraphs>67</Paragraphs>
  <Slides>16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Arial</vt:lpstr>
      <vt:lpstr>Calibri</vt:lpstr>
      <vt:lpstr>Calibri Light</vt:lpstr>
      <vt:lpstr>Office 主题​​</vt:lpstr>
      <vt:lpstr>计算机组成与系统结构II 综合实验</vt:lpstr>
      <vt:lpstr>课程安排</vt:lpstr>
      <vt:lpstr>实验目的与要求</vt:lpstr>
      <vt:lpstr>流水线处理器设计</vt:lpstr>
      <vt:lpstr>流水线处理器设计（IF）</vt:lpstr>
      <vt:lpstr>流水线处理器设计（ID）</vt:lpstr>
      <vt:lpstr>流水线处理器设计（Ex）</vt:lpstr>
      <vt:lpstr>流水线处理器设计（Mem）</vt:lpstr>
      <vt:lpstr>流水线处理器设计（Wr）</vt:lpstr>
      <vt:lpstr>流水线数据通路</vt:lpstr>
      <vt:lpstr>控制信号的传递</vt:lpstr>
      <vt:lpstr>设计参考</vt:lpstr>
      <vt:lpstr>设计参考</vt:lpstr>
      <vt:lpstr>实验要求</vt:lpstr>
      <vt:lpstr>课后作业</vt:lpstr>
      <vt:lpstr>课后作业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源 米</dc:creator>
  <cp:lastModifiedBy>源 米</cp:lastModifiedBy>
  <cp:revision>170</cp:revision>
  <dcterms:created xsi:type="dcterms:W3CDTF">2024-11-15T12:59:17Z</dcterms:created>
  <dcterms:modified xsi:type="dcterms:W3CDTF">2025-11-09T04:56:22Z</dcterms:modified>
</cp:coreProperties>
</file>