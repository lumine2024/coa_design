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FFFF"/>
    <a:srgbClr val="B286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1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42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744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55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20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35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600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97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6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63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031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231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43A9F-84D9-4A87-BD7C-9D2D4C8E389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8FAAA-9BC5-4D8E-9EB4-7CDD5F6248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00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21AE3-F444-C8D1-1428-C2445D965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238" y="1262358"/>
            <a:ext cx="7555523" cy="2166642"/>
          </a:xfrm>
        </p:spPr>
        <p:txBody>
          <a:bodyPr>
            <a:normAutofit/>
          </a:bodyPr>
          <a:lstStyle/>
          <a:p>
            <a:r>
              <a:rPr lang="en-US" altLang="zh-CN" sz="6600" b="1" dirty="0"/>
              <a:t>Verilog HDL </a:t>
            </a:r>
            <a:r>
              <a:rPr lang="zh-CN" altLang="en-US" sz="6600" b="1" dirty="0"/>
              <a:t>语法简介 </a:t>
            </a:r>
          </a:p>
        </p:txBody>
      </p:sp>
    </p:spTree>
    <p:extLst>
      <p:ext uri="{BB962C8B-B14F-4D97-AF65-F5344CB8AC3E}">
        <p14:creationId xmlns:p14="http://schemas.microsoft.com/office/powerpoint/2010/main" val="417460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0D3B9-FD10-9DC5-C358-D03E05E94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accent1"/>
                </a:solidFill>
              </a:rPr>
              <a:t>Verilog HDL </a:t>
            </a:r>
            <a:r>
              <a:rPr lang="zh-CN" altLang="en-US" b="1" dirty="0">
                <a:solidFill>
                  <a:schemeClr val="accent1"/>
                </a:solidFill>
              </a:rPr>
              <a:t>基本语法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B8D668-CA6D-E8E4-37DD-DB51A7ADA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246" y="2226469"/>
            <a:ext cx="7425104" cy="32635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 HDL</a:t>
            </a:r>
            <a:r>
              <a:rPr lang="zh-CN" altLang="en-US" b="1" dirty="0"/>
              <a:t>简介</a:t>
            </a:r>
            <a:endParaRPr lang="en-US" altLang="zh-CN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 模块结构</a:t>
            </a:r>
            <a:endParaRPr lang="en-US" altLang="zh-CN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 数据与变量</a:t>
            </a:r>
            <a:endParaRPr lang="en-US" altLang="zh-CN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 逻辑表达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348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7C7F3-F0C0-C983-19CB-4766D1FF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accent1"/>
                </a:solidFill>
              </a:rPr>
              <a:t>HDL</a:t>
            </a:r>
            <a:r>
              <a:rPr lang="zh-CN" altLang="en-US" b="1" dirty="0">
                <a:solidFill>
                  <a:schemeClr val="accent1"/>
                </a:solidFill>
              </a:rPr>
              <a:t>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BC8FC0-8811-0B8A-0321-B5E17CD8F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rgbClr val="FFC000"/>
                </a:solidFill>
              </a:rPr>
              <a:t>硬件描述语言的定义：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硬件描述语言（</a:t>
            </a:r>
            <a:r>
              <a:rPr lang="en-US" altLang="zh-CN" sz="2400" dirty="0"/>
              <a:t>HDL</a:t>
            </a:r>
            <a:r>
              <a:rPr lang="zh-CN" altLang="en-US" sz="2400" dirty="0"/>
              <a:t>：</a:t>
            </a:r>
            <a:r>
              <a:rPr lang="en-US" altLang="zh-CN" sz="2400" dirty="0"/>
              <a:t>hardware description language</a:t>
            </a:r>
            <a:r>
              <a:rPr lang="zh-CN" altLang="en-US" sz="2400" dirty="0"/>
              <a:t>）是用来描述电子电路（特别是数字电路）功能、行为的语言，可以在寄存器传输级、行为级、逻辑门级等对数字电路系统进行描述。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C000"/>
                </a:solidFill>
              </a:rPr>
              <a:t>主流硬件描述语言：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目前</a:t>
            </a:r>
            <a:r>
              <a:rPr lang="en-US" altLang="zh-CN" sz="2400" dirty="0"/>
              <a:t>Verilog HDL</a:t>
            </a:r>
            <a:r>
              <a:rPr lang="zh-CN" altLang="en-US" sz="2400" dirty="0"/>
              <a:t>和</a:t>
            </a:r>
            <a:r>
              <a:rPr lang="en-US" altLang="zh-CN" sz="2400" dirty="0"/>
              <a:t>VHDL</a:t>
            </a:r>
            <a:r>
              <a:rPr lang="zh-CN" altLang="en-US" sz="2400" dirty="0"/>
              <a:t>语言是目前主要的两种</a:t>
            </a:r>
            <a:r>
              <a:rPr lang="en-US" altLang="zh-CN" sz="2400" dirty="0"/>
              <a:t>HDL</a:t>
            </a:r>
            <a:r>
              <a:rPr lang="zh-CN" altLang="en-US" sz="2400" dirty="0"/>
              <a:t>语言，并分别在</a:t>
            </a:r>
            <a:r>
              <a:rPr lang="en-US" altLang="zh-CN" sz="2400" dirty="0"/>
              <a:t>1995</a:t>
            </a:r>
            <a:r>
              <a:rPr lang="zh-CN" altLang="en-US" sz="2400" dirty="0"/>
              <a:t>和</a:t>
            </a:r>
            <a:r>
              <a:rPr lang="en-US" altLang="zh-CN" sz="2400" dirty="0"/>
              <a:t>1987</a:t>
            </a:r>
            <a:r>
              <a:rPr lang="zh-CN" altLang="en-US" sz="2400" dirty="0"/>
              <a:t>被采纳为</a:t>
            </a:r>
            <a:r>
              <a:rPr lang="en-US" altLang="zh-CN" sz="2400" dirty="0"/>
              <a:t>IEEE</a:t>
            </a:r>
            <a:r>
              <a:rPr lang="zh-CN" altLang="en-US" sz="2400" dirty="0"/>
              <a:t>国际标准，广泛用于数字集成电路的设计和验证领域。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03883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accent1"/>
                </a:solidFill>
              </a:rPr>
              <a:t>module</a:t>
            </a:r>
            <a:r>
              <a:rPr lang="zh-CN" altLang="en-US" b="1" dirty="0">
                <a:solidFill>
                  <a:schemeClr val="accent1"/>
                </a:solidFill>
              </a:rPr>
              <a:t>的结构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63517"/>
            <a:ext cx="7886700" cy="427851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Verilog</a:t>
            </a:r>
            <a:r>
              <a:rPr lang="zh-CN" altLang="en-US" sz="2400" dirty="0"/>
              <a:t>使用模块（</a:t>
            </a:r>
            <a:r>
              <a:rPr lang="en-US" altLang="zh-CN" sz="2400" dirty="0"/>
              <a:t>module</a:t>
            </a:r>
            <a:r>
              <a:rPr lang="zh-CN" altLang="en-US" sz="2400" dirty="0"/>
              <a:t>）的概念来代表一个基本的功能块。一个模块的功能分为两个部分，一部分描述</a:t>
            </a:r>
            <a:r>
              <a:rPr lang="zh-CN" altLang="en-US" sz="2400" dirty="0">
                <a:solidFill>
                  <a:srgbClr val="FF0000"/>
                </a:solidFill>
              </a:rPr>
              <a:t>接口</a:t>
            </a:r>
            <a:r>
              <a:rPr lang="zh-CN" altLang="en-US" sz="2400" dirty="0"/>
              <a:t>，另一部分描述</a:t>
            </a:r>
            <a:r>
              <a:rPr lang="zh-CN" altLang="en-US" sz="2400" dirty="0">
                <a:solidFill>
                  <a:srgbClr val="00B050"/>
                </a:solidFill>
              </a:rPr>
              <a:t>逻辑功能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60DF71-5453-C0AA-8DA6-57A00AF36838}"/>
              </a:ext>
            </a:extLst>
          </p:cNvPr>
          <p:cNvSpPr txBox="1"/>
          <p:nvPr/>
        </p:nvSpPr>
        <p:spPr>
          <a:xfrm>
            <a:off x="4375879" y="3157443"/>
            <a:ext cx="3938899" cy="2957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module block(</a:t>
            </a:r>
            <a:r>
              <a:rPr lang="en-US" altLang="zh-CN" dirty="0" err="1"/>
              <a:t>in1</a:t>
            </a:r>
            <a:r>
              <a:rPr lang="en-US" altLang="zh-CN" dirty="0"/>
              <a:t>, </a:t>
            </a:r>
            <a:r>
              <a:rPr lang="en-US" altLang="zh-CN" dirty="0" err="1"/>
              <a:t>in2</a:t>
            </a:r>
            <a:r>
              <a:rPr lang="en-US" altLang="zh-CN" dirty="0"/>
              <a:t>, </a:t>
            </a:r>
            <a:r>
              <a:rPr lang="en-US" altLang="zh-CN" dirty="0" err="1"/>
              <a:t>out1</a:t>
            </a:r>
            <a:r>
              <a:rPr lang="en-US" altLang="zh-CN" dirty="0"/>
              <a:t>, </a:t>
            </a:r>
            <a:r>
              <a:rPr lang="en-US" altLang="zh-CN" dirty="0" err="1"/>
              <a:t>out2</a:t>
            </a:r>
            <a:r>
              <a:rPr lang="en-US" altLang="zh-CN" dirty="0"/>
              <a:t> </a:t>
            </a:r>
            <a:r>
              <a:rPr lang="en-US" altLang="zh-CN" dirty="0" err="1"/>
              <a:t>out3</a:t>
            </a:r>
            <a:r>
              <a:rPr lang="en-US" altLang="zh-CN" dirty="0"/>
              <a:t>);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input </a:t>
            </a:r>
            <a:r>
              <a:rPr lang="en-US" altLang="zh-CN" dirty="0" err="1"/>
              <a:t>in1</a:t>
            </a:r>
            <a:r>
              <a:rPr lang="en-US" altLang="zh-CN" dirty="0"/>
              <a:t>, </a:t>
            </a:r>
            <a:r>
              <a:rPr lang="en-US" altLang="zh-CN" dirty="0" err="1"/>
              <a:t>in2</a:t>
            </a:r>
            <a:r>
              <a:rPr lang="en-US" altLang="zh-CN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output out1, out2, out3;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assign out1 = in1 &amp; in2;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assign out2 = in1 | in2;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assign out3 = in1 ^ in2;</a:t>
            </a:r>
          </a:p>
          <a:p>
            <a:pPr>
              <a:lnSpc>
                <a:spcPct val="150000"/>
              </a:lnSpc>
            </a:pPr>
            <a:r>
              <a:rPr lang="en-US" altLang="zh-CN" dirty="0" err="1"/>
              <a:t>endmodule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E9095A-77ED-C01B-0251-4586978DAA8D}"/>
              </a:ext>
            </a:extLst>
          </p:cNvPr>
          <p:cNvSpPr/>
          <p:nvPr/>
        </p:nvSpPr>
        <p:spPr>
          <a:xfrm>
            <a:off x="4375876" y="3227364"/>
            <a:ext cx="3876086" cy="12380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B5DBCD-22CF-3DB3-6E8F-913D3D26F3DF}"/>
              </a:ext>
            </a:extLst>
          </p:cNvPr>
          <p:cNvSpPr/>
          <p:nvPr/>
        </p:nvSpPr>
        <p:spPr>
          <a:xfrm>
            <a:off x="4375876" y="4538274"/>
            <a:ext cx="3876086" cy="1564503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0" name="图片 9" descr="图示&#10;&#10;描述已自动生成">
            <a:extLst>
              <a:ext uri="{FF2B5EF4-FFF2-40B4-BE49-F238E27FC236}">
                <a16:creationId xmlns:a16="http://schemas.microsoft.com/office/drawing/2014/main" id="{B292AF41-6EDE-826E-E95B-F8421B033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31" y="3231765"/>
            <a:ext cx="2848362" cy="281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78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accent1"/>
                </a:solidFill>
              </a:rPr>
              <a:t>module</a:t>
            </a:r>
            <a:r>
              <a:rPr lang="zh-CN" altLang="en-US" b="1" dirty="0">
                <a:solidFill>
                  <a:schemeClr val="accent1"/>
                </a:solidFill>
              </a:rPr>
              <a:t>的结构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接口部分包含</a:t>
            </a:r>
            <a:r>
              <a:rPr lang="zh-CN" altLang="en-US" sz="2400" dirty="0">
                <a:solidFill>
                  <a:srgbClr val="FF0000"/>
                </a:solidFill>
              </a:rPr>
              <a:t>端口定义</a:t>
            </a:r>
            <a:r>
              <a:rPr lang="zh-CN" altLang="en-US" sz="2400" dirty="0"/>
              <a:t>与</a:t>
            </a:r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声明</a:t>
            </a:r>
            <a:r>
              <a:rPr lang="zh-CN" altLang="en-US" sz="2400" dirty="0"/>
              <a:t>；逻辑功能部分描述模块的</a:t>
            </a:r>
            <a:r>
              <a:rPr lang="zh-CN" altLang="en-US" sz="2400" dirty="0">
                <a:solidFill>
                  <a:srgbClr val="FF0000"/>
                </a:solidFill>
              </a:rPr>
              <a:t>内部信号说明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功能定义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端口定义</a:t>
            </a:r>
            <a:r>
              <a:rPr lang="zh-CN" altLang="en-US" sz="2400" dirty="0"/>
              <a:t>部分描述了模块的输入、输出端口，格式如下：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module </a:t>
            </a:r>
            <a:r>
              <a:rPr lang="zh-CN" altLang="en-US" sz="2400" dirty="0"/>
              <a:t>模块名  </a:t>
            </a:r>
            <a:r>
              <a:rPr lang="en-US" altLang="zh-CN" sz="2400" dirty="0"/>
              <a:t>(</a:t>
            </a:r>
            <a:r>
              <a:rPr lang="zh-CN" altLang="en-US" sz="2400" dirty="0"/>
              <a:t>接口</a:t>
            </a:r>
            <a:r>
              <a:rPr lang="en-US" altLang="zh-CN" sz="2400" dirty="0"/>
              <a:t>1, </a:t>
            </a:r>
            <a:r>
              <a:rPr lang="zh-CN" altLang="en-US" sz="2400" dirty="0"/>
              <a:t>接口</a:t>
            </a:r>
            <a:r>
              <a:rPr lang="en-US" altLang="zh-CN" sz="2400" dirty="0"/>
              <a:t>2, </a:t>
            </a:r>
            <a:r>
              <a:rPr lang="zh-CN" altLang="en-US" sz="2400" dirty="0"/>
              <a:t>接口</a:t>
            </a:r>
            <a:r>
              <a:rPr lang="en-US" altLang="zh-CN" sz="2400" dirty="0"/>
              <a:t>3,</a:t>
            </a:r>
            <a:r>
              <a:rPr lang="zh-CN" altLang="en-US" sz="2400" dirty="0"/>
              <a:t> </a:t>
            </a:r>
            <a:r>
              <a:rPr lang="en-US" altLang="zh-CN" sz="2400" dirty="0"/>
              <a:t>…);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I/O</a:t>
            </a:r>
            <a:r>
              <a:rPr lang="zh-CN" altLang="en-US" sz="2400" dirty="0">
                <a:solidFill>
                  <a:srgbClr val="FF0000"/>
                </a:solidFill>
              </a:rPr>
              <a:t>声明</a:t>
            </a:r>
            <a:r>
              <a:rPr lang="zh-CN" altLang="en-US" sz="2400" dirty="0"/>
              <a:t>部分描述了端口数据的传输方向，格式如下：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input </a:t>
            </a:r>
            <a:r>
              <a:rPr lang="zh-CN" altLang="en-US" sz="2400" dirty="0"/>
              <a:t>输入端口</a:t>
            </a:r>
            <a:r>
              <a:rPr lang="en-US" altLang="zh-CN" sz="2400" dirty="0"/>
              <a:t>1, </a:t>
            </a:r>
            <a:r>
              <a:rPr lang="zh-CN" altLang="en-US" sz="2400" dirty="0"/>
              <a:t>输入端口</a:t>
            </a:r>
            <a:r>
              <a:rPr lang="en-US" altLang="zh-CN" sz="2400" dirty="0"/>
              <a:t>2, …;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output </a:t>
            </a:r>
            <a:r>
              <a:rPr lang="zh-CN" altLang="en-US" sz="2400" dirty="0"/>
              <a:t>输出端口</a:t>
            </a:r>
            <a:r>
              <a:rPr lang="en-US" altLang="zh-CN" sz="2400" dirty="0"/>
              <a:t>1, </a:t>
            </a:r>
            <a:r>
              <a:rPr lang="zh-CN" altLang="en-US" sz="2400" dirty="0"/>
              <a:t>输出端口</a:t>
            </a:r>
            <a:r>
              <a:rPr lang="en-US" altLang="zh-CN" sz="2400" dirty="0"/>
              <a:t>2,…;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I/O</a:t>
            </a:r>
            <a:r>
              <a:rPr lang="zh-CN" altLang="en-US" sz="2400" dirty="0"/>
              <a:t>声明页可以写在端口定义中，格式如下：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module </a:t>
            </a:r>
            <a:r>
              <a:rPr lang="zh-CN" altLang="en-US" sz="2400" dirty="0"/>
              <a:t>模块名  </a:t>
            </a:r>
            <a:r>
              <a:rPr lang="en-US" altLang="zh-CN" sz="2400" dirty="0"/>
              <a:t>(input </a:t>
            </a:r>
            <a:r>
              <a:rPr lang="zh-CN" altLang="en-US" sz="2400" dirty="0"/>
              <a:t>接口</a:t>
            </a:r>
            <a:r>
              <a:rPr lang="en-US" altLang="zh-CN" sz="2400" dirty="0"/>
              <a:t>1, output </a:t>
            </a:r>
            <a:r>
              <a:rPr lang="zh-CN" altLang="en-US" sz="2400" dirty="0"/>
              <a:t>接口</a:t>
            </a:r>
            <a:r>
              <a:rPr lang="en-US" altLang="zh-CN" sz="2400" dirty="0"/>
              <a:t>2,…);</a:t>
            </a:r>
          </a:p>
        </p:txBody>
      </p:sp>
    </p:spTree>
    <p:extLst>
      <p:ext uri="{BB962C8B-B14F-4D97-AF65-F5344CB8AC3E}">
        <p14:creationId xmlns:p14="http://schemas.microsoft.com/office/powerpoint/2010/main" val="379981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数据与变量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5098530"/>
          </a:xfrm>
        </p:spPr>
        <p:txBody>
          <a:bodyPr>
            <a:normAutofit/>
          </a:bodyPr>
          <a:lstStyle/>
          <a:p>
            <a:pPr marL="0" indent="0" defTabSz="3600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1. </a:t>
            </a:r>
            <a:r>
              <a:rPr lang="zh-CN" altLang="en-US" b="1" dirty="0">
                <a:solidFill>
                  <a:srgbClr val="FFC000"/>
                </a:solidFill>
              </a:rPr>
              <a:t>数字常量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Verilog</a:t>
            </a:r>
            <a:r>
              <a:rPr lang="zh-CN" altLang="en-US" sz="2400" dirty="0"/>
              <a:t>中的数字常量，有以下三种表达方式：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	a</a:t>
            </a:r>
            <a:r>
              <a:rPr lang="zh-CN" altLang="en-US" sz="2400" dirty="0"/>
              <a:t>）</a:t>
            </a:r>
            <a:r>
              <a:rPr lang="en-US" altLang="zh-CN" sz="2400" dirty="0"/>
              <a:t>&lt;</a:t>
            </a:r>
            <a:r>
              <a:rPr lang="zh-CN" altLang="en-US" sz="2400" dirty="0"/>
              <a:t>位宽</a:t>
            </a:r>
            <a:r>
              <a:rPr lang="en-US" altLang="zh-CN" sz="2400" dirty="0"/>
              <a:t>&gt; &lt;</a:t>
            </a:r>
            <a:r>
              <a:rPr lang="zh-CN" altLang="en-US" sz="2400" dirty="0"/>
              <a:t>进制</a:t>
            </a:r>
            <a:r>
              <a:rPr lang="en-US" altLang="zh-CN" sz="2400" dirty="0"/>
              <a:t>&gt; &lt;</a:t>
            </a:r>
            <a:r>
              <a:rPr lang="zh-CN" altLang="en-US" sz="2400" dirty="0"/>
              <a:t>数字</a:t>
            </a:r>
            <a:r>
              <a:rPr lang="en-US" altLang="zh-CN" sz="2400" dirty="0"/>
              <a:t>&gt;</a:t>
            </a:r>
            <a:r>
              <a:rPr lang="zh-CN" altLang="en-US" sz="2400" dirty="0"/>
              <a:t>，这是数字的完整表达形式；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		</a:t>
            </a:r>
            <a:r>
              <a:rPr lang="zh-CN" altLang="en-US" sz="2400" dirty="0"/>
              <a:t>如：</a:t>
            </a:r>
            <a:r>
              <a:rPr lang="en-US" altLang="zh-CN" sz="2400" dirty="0" err="1"/>
              <a:t>8’b10101100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8’hac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	b</a:t>
            </a:r>
            <a:r>
              <a:rPr lang="zh-CN" altLang="en-US" sz="2400" dirty="0"/>
              <a:t>）</a:t>
            </a:r>
            <a:r>
              <a:rPr lang="en-US" altLang="zh-CN" sz="2400" dirty="0"/>
              <a:t>&lt;</a:t>
            </a:r>
            <a:r>
              <a:rPr lang="zh-CN" altLang="en-US" sz="2400" dirty="0"/>
              <a:t>进制</a:t>
            </a:r>
            <a:r>
              <a:rPr lang="en-US" altLang="zh-CN" sz="2400" dirty="0"/>
              <a:t>&gt; &lt;</a:t>
            </a:r>
            <a:r>
              <a:rPr lang="zh-CN" altLang="en-US" sz="2400" dirty="0"/>
              <a:t>数字</a:t>
            </a:r>
            <a:r>
              <a:rPr lang="en-US" altLang="zh-CN" sz="2400" dirty="0"/>
              <a:t>&gt;</a:t>
            </a:r>
            <a:r>
              <a:rPr lang="zh-CN" altLang="en-US" sz="2400" dirty="0"/>
              <a:t>，数字采用默认位宽，具体与操作系统有关。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	c</a:t>
            </a:r>
            <a:r>
              <a:rPr lang="zh-CN" altLang="en-US" sz="2400" dirty="0"/>
              <a:t>） </a:t>
            </a:r>
            <a:r>
              <a:rPr lang="en-US" altLang="zh-CN" sz="2400" dirty="0"/>
              <a:t>&lt;</a:t>
            </a:r>
            <a:r>
              <a:rPr lang="zh-CN" altLang="en-US" sz="2400" dirty="0"/>
              <a:t>数字</a:t>
            </a:r>
            <a:r>
              <a:rPr lang="en-US" altLang="zh-CN" sz="2400" dirty="0"/>
              <a:t>&gt;</a:t>
            </a:r>
            <a:r>
              <a:rPr lang="zh-CN" altLang="en-US" sz="2400" dirty="0"/>
              <a:t>，采用默认位宽与进制表达（十进制）。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x</a:t>
            </a:r>
            <a:r>
              <a:rPr lang="zh-CN" altLang="en-US" sz="2400" dirty="0"/>
              <a:t>值与</a:t>
            </a:r>
            <a:r>
              <a:rPr lang="en-US" altLang="zh-CN" sz="2400" dirty="0"/>
              <a:t>z</a:t>
            </a:r>
            <a:r>
              <a:rPr lang="zh-CN" altLang="en-US" sz="2400" dirty="0"/>
              <a:t>值，在</a:t>
            </a:r>
            <a:r>
              <a:rPr lang="en-US" altLang="zh-CN" sz="2400" dirty="0"/>
              <a:t>Verilog</a:t>
            </a:r>
            <a:r>
              <a:rPr lang="zh-CN" altLang="en-US" sz="2400" dirty="0"/>
              <a:t>中</a:t>
            </a:r>
            <a:r>
              <a:rPr lang="en-US" altLang="zh-CN" sz="2400" dirty="0"/>
              <a:t>x</a:t>
            </a:r>
            <a:r>
              <a:rPr lang="zh-CN" altLang="en-US" sz="2400" dirty="0"/>
              <a:t>代表不定值，</a:t>
            </a:r>
            <a:r>
              <a:rPr lang="en-US" altLang="zh-CN" sz="2400" dirty="0"/>
              <a:t>z</a:t>
            </a:r>
            <a:r>
              <a:rPr lang="zh-CN" altLang="en-US" sz="2400" dirty="0"/>
              <a:t>代表高阻值。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	</a:t>
            </a:r>
            <a:r>
              <a:rPr lang="zh-CN" altLang="en-US" sz="2400" dirty="0"/>
              <a:t>如：</a:t>
            </a:r>
            <a:r>
              <a:rPr lang="en-US" altLang="zh-CN" sz="2400" dirty="0" err="1"/>
              <a:t>4’bxxxx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4’bz011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4’b11x0</a:t>
            </a:r>
            <a:r>
              <a:rPr lang="zh-CN" altLang="en-US" sz="2400" dirty="0"/>
              <a:t>；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589204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数据与变量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3967162"/>
          </a:xfrm>
        </p:spPr>
        <p:txBody>
          <a:bodyPr>
            <a:normAutofit/>
          </a:bodyPr>
          <a:lstStyle/>
          <a:p>
            <a:pPr marL="0" indent="0" defTabSz="3600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2. wire</a:t>
            </a:r>
            <a:r>
              <a:rPr lang="zh-CN" altLang="en-US" b="1" dirty="0">
                <a:solidFill>
                  <a:srgbClr val="FFC000"/>
                </a:solidFill>
              </a:rPr>
              <a:t>型（网络数据类型）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网络数据类型表示结构实体之间的物理连接。网络数据类型的变量不能储存数值，而且必须受到驱动器（门或连续赋值语句</a:t>
            </a:r>
            <a:r>
              <a:rPr lang="en-US" altLang="zh-CN" sz="2400" dirty="0"/>
              <a:t>assign</a:t>
            </a:r>
            <a:r>
              <a:rPr lang="zh-CN" altLang="en-US" sz="2400" dirty="0"/>
              <a:t>）的驱动。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）默认值为高阻值</a:t>
            </a:r>
            <a:r>
              <a:rPr lang="en-US" altLang="zh-CN" sz="2400" dirty="0"/>
              <a:t>z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Verilog</a:t>
            </a:r>
            <a:r>
              <a:rPr lang="zh-CN" altLang="en-US" sz="2400" dirty="0"/>
              <a:t>的默认数据类型；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）具有</a:t>
            </a:r>
            <a:r>
              <a:rPr lang="en-US" altLang="zh-CN" sz="2400" dirty="0"/>
              <a:t>8</a:t>
            </a:r>
            <a:r>
              <a:rPr lang="zh-CN" altLang="en-US" sz="2400" dirty="0"/>
              <a:t>位位宽的</a:t>
            </a:r>
            <a:r>
              <a:rPr lang="en-US" altLang="zh-CN" sz="2400" dirty="0"/>
              <a:t>wire</a:t>
            </a:r>
            <a:r>
              <a:rPr lang="zh-CN" altLang="en-US" sz="2400" dirty="0"/>
              <a:t>型变量</a:t>
            </a:r>
            <a:r>
              <a:rPr lang="en-US" altLang="zh-CN" sz="2400" dirty="0"/>
              <a:t>a</a:t>
            </a:r>
            <a:r>
              <a:rPr lang="zh-CN" altLang="en-US" sz="2400" dirty="0"/>
              <a:t>定义为：</a:t>
            </a:r>
            <a:r>
              <a:rPr lang="en-US" altLang="zh-CN" sz="2400" dirty="0"/>
              <a:t> wire [7:0] a</a:t>
            </a:r>
            <a:r>
              <a:rPr lang="zh-CN" altLang="en-US" sz="2400" dirty="0"/>
              <a:t>或</a:t>
            </a:r>
            <a:r>
              <a:rPr lang="en-US" altLang="zh-CN" sz="2400" dirty="0"/>
              <a:t>wire [8:1] a</a:t>
            </a:r>
            <a:r>
              <a:rPr lang="zh-CN" altLang="en-US" sz="2400" dirty="0"/>
              <a:t>；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08416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数据与变量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3967162"/>
          </a:xfrm>
        </p:spPr>
        <p:txBody>
          <a:bodyPr>
            <a:normAutofit/>
          </a:bodyPr>
          <a:lstStyle/>
          <a:p>
            <a:pPr marL="0" indent="0" defTabSz="3600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3. reg</a:t>
            </a:r>
            <a:r>
              <a:rPr lang="zh-CN" altLang="en-US" b="1" dirty="0">
                <a:solidFill>
                  <a:srgbClr val="FFC000"/>
                </a:solidFill>
              </a:rPr>
              <a:t>型（寄存器数据类型）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寄存器数据类型是存储单元的抽象。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）默认值为不定值</a:t>
            </a:r>
            <a:r>
              <a:rPr lang="en-US" altLang="zh-CN" sz="2400" dirty="0"/>
              <a:t>x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）定义为该数据类型的变量常代表触发器；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）具有</a:t>
            </a:r>
            <a:r>
              <a:rPr lang="en-US" altLang="zh-CN" sz="2400" dirty="0"/>
              <a:t>8</a:t>
            </a:r>
            <a:r>
              <a:rPr lang="zh-CN" altLang="en-US" sz="2400" dirty="0"/>
              <a:t>位位宽的</a:t>
            </a:r>
            <a:r>
              <a:rPr lang="en-US" altLang="zh-CN" sz="2400" dirty="0"/>
              <a:t>reg</a:t>
            </a:r>
            <a:r>
              <a:rPr lang="zh-CN" altLang="en-US" sz="2400" dirty="0"/>
              <a:t>型变量</a:t>
            </a:r>
            <a:r>
              <a:rPr lang="en-US" altLang="zh-CN" sz="2400" dirty="0"/>
              <a:t>a</a:t>
            </a:r>
            <a:r>
              <a:rPr lang="zh-CN" altLang="en-US" sz="2400" dirty="0"/>
              <a:t>定义为：</a:t>
            </a:r>
            <a:r>
              <a:rPr lang="en-US" altLang="zh-CN" sz="2400" dirty="0"/>
              <a:t> reg [7:0] a</a:t>
            </a:r>
            <a:r>
              <a:rPr lang="zh-CN" altLang="en-US" sz="2400" dirty="0"/>
              <a:t>或</a:t>
            </a:r>
            <a:r>
              <a:rPr lang="en-US" altLang="zh-CN" sz="2400" dirty="0"/>
              <a:t>reg [8:1] a</a:t>
            </a:r>
            <a:r>
              <a:rPr lang="zh-CN" altLang="en-US" sz="2400" dirty="0"/>
              <a:t>；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65446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数据与变量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3967162"/>
          </a:xfrm>
        </p:spPr>
        <p:txBody>
          <a:bodyPr>
            <a:normAutofit/>
          </a:bodyPr>
          <a:lstStyle/>
          <a:p>
            <a:pPr marL="0" indent="0" defTabSz="3600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4. memory</a:t>
            </a:r>
            <a:r>
              <a:rPr lang="zh-CN" altLang="en-US" b="1" dirty="0">
                <a:solidFill>
                  <a:srgbClr val="FFC000"/>
                </a:solidFill>
              </a:rPr>
              <a:t>型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Verilog HDL</a:t>
            </a:r>
            <a:r>
              <a:rPr lang="zh-CN" altLang="en-US" sz="2400" dirty="0"/>
              <a:t>通过对</a:t>
            </a:r>
            <a:r>
              <a:rPr lang="en-US" altLang="zh-CN" sz="2400" dirty="0"/>
              <a:t>reg</a:t>
            </a:r>
            <a:r>
              <a:rPr lang="zh-CN" altLang="en-US" sz="2400" dirty="0"/>
              <a:t>型变量建立数组来对存储器建模，格式如下：</a:t>
            </a:r>
            <a:endParaRPr lang="en-US" altLang="zh-CN" sz="24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reg [n-1 : 0]  </a:t>
            </a:r>
            <a:r>
              <a:rPr lang="zh-CN" altLang="en-US" sz="2400" dirty="0"/>
              <a:t>存储器名 </a:t>
            </a:r>
            <a:r>
              <a:rPr lang="en-US" altLang="zh-CN" sz="2400" dirty="0"/>
              <a:t>[m-1 : 0];</a:t>
            </a:r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400" dirty="0"/>
              <a:t>	reg [n-1 : 0] </a:t>
            </a:r>
            <a:r>
              <a:rPr lang="zh-CN" altLang="en-US" sz="2400" dirty="0"/>
              <a:t>定义了每一个存储单元的大小，该存储单元是一个</a:t>
            </a:r>
            <a:r>
              <a:rPr lang="en-US" altLang="zh-CN" sz="2400" dirty="0"/>
              <a:t>n</a:t>
            </a:r>
            <a:r>
              <a:rPr lang="zh-CN" altLang="en-US" sz="2400" dirty="0"/>
              <a:t>位的寄存器，</a:t>
            </a:r>
            <a:r>
              <a:rPr lang="en-US" altLang="zh-CN" sz="2400" dirty="0"/>
              <a:t>[m-1:0] </a:t>
            </a:r>
            <a:r>
              <a:rPr lang="zh-CN" altLang="en-US" sz="2400" dirty="0"/>
              <a:t>则定义了该存储器有多少个这样的存储单元。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74004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逻辑表达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12542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1. </a:t>
            </a:r>
            <a:r>
              <a:rPr lang="zh-CN" altLang="en-US" b="1" dirty="0">
                <a:solidFill>
                  <a:srgbClr val="FFC000"/>
                </a:solidFill>
              </a:rPr>
              <a:t>运算符及表达式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500" dirty="0"/>
              <a:t>       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AD85157-918C-2280-C822-F689EE4AE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453567"/>
              </p:ext>
            </p:extLst>
          </p:nvPr>
        </p:nvGraphicFramePr>
        <p:xfrm>
          <a:off x="1939500" y="2829072"/>
          <a:ext cx="5265000" cy="2987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5000">
                  <a:extLst>
                    <a:ext uri="{9D8B030D-6E8A-4147-A177-3AD203B41FA5}">
                      <a16:colId xmlns:a16="http://schemas.microsoft.com/office/drawing/2014/main" val="1816767446"/>
                    </a:ext>
                  </a:extLst>
                </a:gridCol>
                <a:gridCol w="1755000">
                  <a:extLst>
                    <a:ext uri="{9D8B030D-6E8A-4147-A177-3AD203B41FA5}">
                      <a16:colId xmlns:a16="http://schemas.microsoft.com/office/drawing/2014/main" val="1567545482"/>
                    </a:ext>
                  </a:extLst>
                </a:gridCol>
                <a:gridCol w="1755000">
                  <a:extLst>
                    <a:ext uri="{9D8B030D-6E8A-4147-A177-3AD203B41FA5}">
                      <a16:colId xmlns:a16="http://schemas.microsoft.com/office/drawing/2014/main" val="343652961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!,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~;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取反操作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FF0000"/>
                          </a:solidFill>
                        </a:rPr>
                        <a:t>高优先级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3388432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+, -, *, /, %;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算数运算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48048774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&lt;&lt;, &gt;&gt;;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移位运算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70148434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&lt;, &lt;=, &gt;, &gt;=;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关系运算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6568017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==, !=;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等式运算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4209817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&amp;, |, ^;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位运算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0944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&amp;&amp;, ||;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逻辑运算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6495427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? :;</a:t>
                      </a:r>
                      <a:endParaRPr lang="zh-CN" altLang="en-US" sz="2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条件运算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FF0000"/>
                          </a:solidFill>
                        </a:rPr>
                        <a:t>低优先级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006395921"/>
                  </a:ext>
                </a:extLst>
              </a:tr>
            </a:tbl>
          </a:graphicData>
        </a:graphic>
      </p:graphicFrame>
      <p:sp>
        <p:nvSpPr>
          <p:cNvPr id="5" name="箭头: 右 4">
            <a:extLst>
              <a:ext uri="{FF2B5EF4-FFF2-40B4-BE49-F238E27FC236}">
                <a16:creationId xmlns:a16="http://schemas.microsoft.com/office/drawing/2014/main" id="{52FD95C7-3CE6-8E23-0100-F451829C715E}"/>
              </a:ext>
            </a:extLst>
          </p:cNvPr>
          <p:cNvSpPr/>
          <p:nvPr/>
        </p:nvSpPr>
        <p:spPr>
          <a:xfrm rot="5400000">
            <a:off x="5116311" y="4208318"/>
            <a:ext cx="1835727" cy="27709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679112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逻辑表达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677743"/>
          </a:xfrm>
        </p:spPr>
        <p:txBody>
          <a:bodyPr>
            <a:normAutofit/>
          </a:bodyPr>
          <a:lstStyle/>
          <a:p>
            <a:pPr marL="0" indent="0" defTabSz="360000">
              <a:lnSpc>
                <a:spcPct val="100000"/>
              </a:lnSpc>
              <a:buNone/>
            </a:pPr>
            <a:r>
              <a:rPr lang="zh-CN" altLang="en-US" sz="2000" b="1" dirty="0"/>
              <a:t>拼接运算符（</a:t>
            </a:r>
            <a:r>
              <a:rPr lang="en-US" altLang="zh-CN" sz="2000" b="1" dirty="0"/>
              <a:t>{ }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用来进行数据拼接，可将不同数据的不同字段拼接在一起。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/>
              <a:t>	{a[7:4], b[3:0]};	//</a:t>
            </a:r>
            <a:r>
              <a:rPr lang="zh-CN" altLang="en-US" sz="2000" dirty="0"/>
              <a:t>拼接一个</a:t>
            </a:r>
            <a:r>
              <a:rPr lang="en-US" altLang="zh-CN" sz="2000" dirty="0"/>
              <a:t>8</a:t>
            </a:r>
            <a:r>
              <a:rPr lang="zh-CN" altLang="en-US" sz="2000" dirty="0"/>
              <a:t>位数据，高</a:t>
            </a:r>
            <a:r>
              <a:rPr lang="en-US" altLang="zh-CN" sz="2000" dirty="0"/>
              <a:t>4</a:t>
            </a:r>
            <a:r>
              <a:rPr lang="zh-CN" altLang="en-US" sz="2000" dirty="0"/>
              <a:t>位为数据</a:t>
            </a:r>
            <a:r>
              <a:rPr lang="en-US" altLang="zh-CN" sz="2000" dirty="0"/>
              <a:t>A</a:t>
            </a:r>
            <a:r>
              <a:rPr lang="zh-CN" altLang="en-US" sz="2000" dirty="0"/>
              <a:t>的</a:t>
            </a:r>
            <a:r>
              <a:rPr lang="en-US" altLang="zh-CN" sz="2000" dirty="0"/>
              <a:t>7-4</a:t>
            </a:r>
            <a:r>
              <a:rPr lang="zh-CN" altLang="en-US" sz="2000" dirty="0"/>
              <a:t>位，低</a:t>
            </a:r>
            <a:r>
              <a:rPr lang="en-US" altLang="zh-CN" sz="2000" dirty="0"/>
              <a:t>4</a:t>
            </a:r>
            <a:r>
              <a:rPr lang="zh-CN" altLang="en-US" sz="2000" dirty="0"/>
              <a:t>位为数据</a:t>
            </a:r>
            <a:r>
              <a:rPr lang="en-US" altLang="zh-CN" sz="2000" dirty="0"/>
              <a:t>B</a:t>
            </a:r>
            <a:r>
              <a:rPr lang="zh-CN" altLang="en-US" sz="2000" dirty="0"/>
              <a:t>的</a:t>
            </a:r>
            <a:r>
              <a:rPr lang="en-US" altLang="zh-CN" sz="2000" dirty="0"/>
              <a:t>3-0</a:t>
            </a:r>
            <a:r>
              <a:rPr lang="zh-CN" altLang="en-US" sz="2000" dirty="0"/>
              <a:t>位；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/>
              <a:t>	{b,</a:t>
            </a:r>
            <a:r>
              <a:rPr lang="zh-CN" altLang="en-US" sz="2000" dirty="0"/>
              <a:t> </a:t>
            </a:r>
            <a:r>
              <a:rPr lang="en-US" altLang="zh-CN" sz="2000" dirty="0"/>
              <a:t>{3{a, b}}};      //</a:t>
            </a:r>
            <a:r>
              <a:rPr lang="zh-CN" altLang="en-US" sz="2000" dirty="0"/>
              <a:t>该数据等价为</a:t>
            </a:r>
            <a:r>
              <a:rPr lang="en-US" altLang="zh-CN" sz="2000" dirty="0"/>
              <a:t>{b, a, b, a, b, a, b}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/>
              <a:t>缩减运算符（位运算符的单目形式）</a:t>
            </a:r>
            <a:endParaRPr lang="en-US" altLang="zh-CN" sz="2000" b="1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如：</a:t>
            </a:r>
            <a:r>
              <a:rPr lang="en-US" altLang="zh-CN" sz="2000" dirty="0"/>
              <a:t>reg [3:0] A;</a:t>
            </a:r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/>
              <a:t>		reg B;</a:t>
            </a:r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/>
              <a:t>		B = |A;</a:t>
            </a:r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等价于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/>
              <a:t>		B = A[3] | A[2] | A[1] | A[0];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49986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逻辑表达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3967162"/>
          </a:xfrm>
        </p:spPr>
        <p:txBody>
          <a:bodyPr>
            <a:normAutofit/>
          </a:bodyPr>
          <a:lstStyle/>
          <a:p>
            <a:pPr marL="0" indent="0" defTabSz="3600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2. assign</a:t>
            </a:r>
            <a:r>
              <a:rPr lang="zh-CN" altLang="en-US" b="1" dirty="0">
                <a:solidFill>
                  <a:srgbClr val="FFC000"/>
                </a:solidFill>
              </a:rPr>
              <a:t>（连续赋值语句）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）一般使用方法为后接表达式，如下所示：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	assign C = A &amp; B;		//</a:t>
            </a:r>
            <a:r>
              <a:rPr lang="zh-CN" altLang="en-US" sz="2000" dirty="0"/>
              <a:t>将</a:t>
            </a:r>
            <a:r>
              <a:rPr lang="en-US" altLang="zh-CN" sz="2000" dirty="0"/>
              <a:t>A &amp; B</a:t>
            </a:r>
            <a:r>
              <a:rPr lang="zh-CN" altLang="en-US" sz="2000" dirty="0"/>
              <a:t>的值赋值给</a:t>
            </a:r>
            <a:r>
              <a:rPr lang="en-US" altLang="zh-CN" sz="2000" dirty="0"/>
              <a:t>C</a:t>
            </a:r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）常用来描述组合逻辑电路；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）表达式中被赋值变量须为</a:t>
            </a:r>
            <a:r>
              <a:rPr lang="en-US" altLang="zh-CN" sz="2000" dirty="0"/>
              <a:t>wire</a:t>
            </a:r>
            <a:r>
              <a:rPr lang="zh-CN" altLang="en-US" sz="2000" dirty="0"/>
              <a:t>类型。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658189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逻辑表达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049976"/>
          </a:xfrm>
        </p:spPr>
        <p:txBody>
          <a:bodyPr>
            <a:normAutofit/>
          </a:bodyPr>
          <a:lstStyle/>
          <a:p>
            <a:pPr marL="0" indent="0" defTabSz="3600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3. always</a:t>
            </a:r>
            <a:r>
              <a:rPr lang="zh-CN" altLang="en-US" b="1" dirty="0">
                <a:solidFill>
                  <a:srgbClr val="FFC000"/>
                </a:solidFill>
              </a:rPr>
              <a:t>块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）语句格式如下：</a:t>
            </a:r>
            <a:r>
              <a:rPr lang="en-US" altLang="zh-CN" sz="2000" dirty="0"/>
              <a:t>always &lt;</a:t>
            </a:r>
            <a:r>
              <a:rPr lang="zh-CN" altLang="en-US" sz="2000" dirty="0"/>
              <a:t>时序控制</a:t>
            </a:r>
            <a:r>
              <a:rPr lang="en-US" altLang="zh-CN" sz="2000" dirty="0"/>
              <a:t>&gt; &lt;</a:t>
            </a:r>
            <a:r>
              <a:rPr lang="zh-CN" altLang="en-US" sz="2000" dirty="0"/>
              <a:t>语句</a:t>
            </a:r>
            <a:r>
              <a:rPr lang="en-US" altLang="zh-CN" sz="2000" dirty="0"/>
              <a:t>&gt;</a:t>
            </a:r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在执行过程中对“时序控制”语句进行监测，若条件成立，则执行语句；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）时序控制语句既可以采用电平检测，也可以采用沿检测，但在同一</a:t>
            </a:r>
            <a:r>
              <a:rPr lang="en-US" altLang="zh-CN" sz="2000" dirty="0"/>
              <a:t>always</a:t>
            </a:r>
            <a:r>
              <a:rPr lang="zh-CN" altLang="en-US" sz="2000" dirty="0"/>
              <a:t>块内两种检测方式不可混用，如：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	always @ (A, B)		//</a:t>
            </a:r>
            <a:r>
              <a:rPr lang="zh-CN" altLang="en-US" sz="2000" dirty="0"/>
              <a:t>检测条件为</a:t>
            </a:r>
            <a:r>
              <a:rPr lang="en-US" altLang="zh-CN" sz="2000" dirty="0"/>
              <a:t>A</a:t>
            </a:r>
            <a:r>
              <a:rPr lang="zh-CN" altLang="en-US" sz="2000" dirty="0"/>
              <a:t>、</a:t>
            </a:r>
            <a:r>
              <a:rPr lang="en-US" altLang="zh-CN" sz="2000" dirty="0"/>
              <a:t>B</a:t>
            </a:r>
            <a:r>
              <a:rPr lang="zh-CN" altLang="en-US" sz="2000" dirty="0"/>
              <a:t>两个变量，当其发生改变时触发语句；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	always @ (</a:t>
            </a:r>
            <a:r>
              <a:rPr lang="en-US" altLang="zh-CN" sz="2000" dirty="0" err="1"/>
              <a:t>posedge</a:t>
            </a:r>
            <a:r>
              <a:rPr lang="en-US" altLang="zh-CN" sz="2000" dirty="0"/>
              <a:t> A or </a:t>
            </a:r>
            <a:r>
              <a:rPr lang="en-US" altLang="zh-CN" sz="2000" dirty="0" err="1"/>
              <a:t>negedge</a:t>
            </a:r>
            <a:r>
              <a:rPr lang="en-US" altLang="zh-CN" sz="2000" dirty="0"/>
              <a:t> B)	//</a:t>
            </a:r>
            <a:r>
              <a:rPr lang="en-US" altLang="zh-CN" sz="2000" dirty="0" err="1"/>
              <a:t>posedge</a:t>
            </a:r>
            <a:r>
              <a:rPr lang="zh-CN" altLang="en-US" sz="2000" dirty="0"/>
              <a:t>与</a:t>
            </a:r>
            <a:r>
              <a:rPr lang="en-US" altLang="zh-CN" sz="2000" dirty="0" err="1"/>
              <a:t>negedge</a:t>
            </a:r>
            <a:r>
              <a:rPr lang="zh-CN" altLang="en-US" sz="2000" dirty="0"/>
              <a:t>为沿触发条件关键字，表示当检测到</a:t>
            </a:r>
            <a:r>
              <a:rPr lang="en-US" altLang="zh-CN" sz="2000" dirty="0"/>
              <a:t>A</a:t>
            </a:r>
            <a:r>
              <a:rPr lang="zh-CN" altLang="en-US" sz="2000" dirty="0"/>
              <a:t>信号的上升沿或</a:t>
            </a:r>
            <a:r>
              <a:rPr lang="en-US" altLang="zh-CN" sz="2000" dirty="0"/>
              <a:t>B</a:t>
            </a:r>
            <a:r>
              <a:rPr lang="zh-CN" altLang="en-US" sz="2000" dirty="0"/>
              <a:t>信号的下降沿时触发语句；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981603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逻辑表达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7"/>
            <a:ext cx="7886700" cy="5074255"/>
          </a:xfrm>
        </p:spPr>
        <p:txBody>
          <a:bodyPr>
            <a:noAutofit/>
          </a:bodyPr>
          <a:lstStyle/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）多用于时序逻辑电路的设计，</a:t>
            </a:r>
            <a:r>
              <a:rPr lang="en-US" altLang="zh-CN" sz="2000" dirty="0"/>
              <a:t>always</a:t>
            </a:r>
            <a:r>
              <a:rPr lang="zh-CN" altLang="en-US" sz="2000" dirty="0"/>
              <a:t>块语句中被赋值的变量须定义为</a:t>
            </a:r>
            <a:r>
              <a:rPr lang="en-US" altLang="zh-CN" sz="2000" dirty="0"/>
              <a:t>reg</a:t>
            </a:r>
            <a:r>
              <a:rPr lang="zh-CN" altLang="en-US" sz="2000" dirty="0"/>
              <a:t>类型。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）当缺省时序控制列表时，</a:t>
            </a:r>
            <a:r>
              <a:rPr lang="en-US" altLang="zh-CN" sz="2000" dirty="0"/>
              <a:t>always</a:t>
            </a:r>
            <a:r>
              <a:rPr lang="zh-CN" altLang="en-US" sz="2000" dirty="0"/>
              <a:t>块语句被视作无限执行，不恰当的使用会产生死锁使设计无法综合，在时序逻辑电路的仿真文件中，可以采用此种方式生成时钟信号，如：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	always #50 </a:t>
            </a:r>
            <a:r>
              <a:rPr lang="en-US" altLang="zh-CN" sz="2000" dirty="0" err="1"/>
              <a:t>Clk</a:t>
            </a:r>
            <a:r>
              <a:rPr lang="en-US" altLang="zh-CN" sz="2000" dirty="0"/>
              <a:t> = ~</a:t>
            </a:r>
            <a:r>
              <a:rPr lang="en-US" altLang="zh-CN" sz="2000" dirty="0" err="1"/>
              <a:t>Clk</a:t>
            </a:r>
            <a:r>
              <a:rPr lang="en-US" altLang="zh-CN" sz="2000" dirty="0"/>
              <a:t>;	//</a:t>
            </a:r>
            <a:r>
              <a:rPr lang="zh-CN" altLang="en-US" sz="2000" dirty="0"/>
              <a:t>每过</a:t>
            </a:r>
            <a:r>
              <a:rPr lang="en-US" altLang="zh-CN" sz="2000" dirty="0"/>
              <a:t>50</a:t>
            </a:r>
            <a:r>
              <a:rPr lang="zh-CN" altLang="en-US" sz="2000" dirty="0"/>
              <a:t>个时间单位使</a:t>
            </a:r>
            <a:r>
              <a:rPr lang="en-US" altLang="zh-CN" sz="2000" dirty="0" err="1"/>
              <a:t>Clk</a:t>
            </a:r>
            <a:r>
              <a:rPr lang="zh-CN" altLang="en-US" sz="2000" dirty="0"/>
              <a:t>信号翻转一次，可视作生成了一个周期为</a:t>
            </a:r>
            <a:r>
              <a:rPr lang="en-US" altLang="zh-CN" sz="2000" dirty="0"/>
              <a:t>100</a:t>
            </a:r>
            <a:r>
              <a:rPr lang="zh-CN" altLang="en-US" sz="2000" dirty="0"/>
              <a:t>个时间单位的时钟信号；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（</a:t>
            </a:r>
            <a:r>
              <a:rPr lang="en-US" altLang="zh-CN" sz="2000" dirty="0"/>
              <a:t>5</a:t>
            </a:r>
            <a:r>
              <a:rPr lang="zh-CN" altLang="en-US" sz="2000" dirty="0"/>
              <a:t>）非阻塞（</a:t>
            </a:r>
            <a:r>
              <a:rPr lang="en-US" altLang="zh-CN" sz="2000" dirty="0" err="1"/>
              <a:t>Non_Blocking</a:t>
            </a:r>
            <a:r>
              <a:rPr lang="zh-CN" altLang="en-US" sz="2000" dirty="0"/>
              <a:t>）赋值（“</a:t>
            </a:r>
            <a:r>
              <a:rPr lang="en-US" altLang="zh-CN" sz="2000" dirty="0"/>
              <a:t>&lt;=</a:t>
            </a:r>
            <a:r>
              <a:rPr lang="zh-CN" altLang="en-US" sz="2000" dirty="0"/>
              <a:t>”）与阻塞（</a:t>
            </a:r>
            <a:r>
              <a:rPr lang="en-US" altLang="zh-CN" sz="2000" dirty="0"/>
              <a:t>Blocking</a:t>
            </a:r>
            <a:r>
              <a:rPr lang="zh-CN" altLang="en-US" sz="2000" dirty="0"/>
              <a:t>）赋值（“</a:t>
            </a:r>
            <a:r>
              <a:rPr lang="en-US" altLang="zh-CN" sz="2000" dirty="0"/>
              <a:t>=</a:t>
            </a:r>
            <a:r>
              <a:rPr lang="zh-CN" altLang="en-US" sz="2000" dirty="0"/>
              <a:t>”）</a:t>
            </a:r>
            <a:endParaRPr lang="en-US" altLang="zh-CN" sz="2000" dirty="0"/>
          </a:p>
          <a:p>
            <a:pPr marL="0" indent="0" defTabSz="360000">
              <a:lnSpc>
                <a:spcPct val="100000"/>
              </a:lnSpc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两种方式赋值的时机有所区别，详见下面的例子；在</a:t>
            </a:r>
            <a:r>
              <a:rPr lang="en-US" altLang="zh-CN" sz="2000" dirty="0"/>
              <a:t>always</a:t>
            </a:r>
            <a:r>
              <a:rPr lang="zh-CN" altLang="en-US" sz="2000" dirty="0"/>
              <a:t>块中对</a:t>
            </a:r>
            <a:r>
              <a:rPr lang="en-US" altLang="zh-CN" sz="2000" dirty="0"/>
              <a:t>reg</a:t>
            </a:r>
            <a:r>
              <a:rPr lang="zh-CN" altLang="en-US" sz="2000" dirty="0"/>
              <a:t>类型的变量进行赋值时应尽量避免使用阻塞赋值方式，在时序逻辑电路设计过程中使用的</a:t>
            </a:r>
            <a:r>
              <a:rPr lang="en-US" altLang="zh-CN" sz="2000" dirty="0"/>
              <a:t>always</a:t>
            </a:r>
            <a:r>
              <a:rPr lang="zh-CN" altLang="en-US" sz="2000" dirty="0"/>
              <a:t>块应统一使用非阻塞赋值方式。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276091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逻辑表达</a:t>
            </a:r>
          </a:p>
        </p:txBody>
      </p:sp>
      <p:pic>
        <p:nvPicPr>
          <p:cNvPr id="9" name="图片 8" descr="图示, 示意图&#10;&#10;描述已自动生成">
            <a:extLst>
              <a:ext uri="{FF2B5EF4-FFF2-40B4-BE49-F238E27FC236}">
                <a16:creationId xmlns:a16="http://schemas.microsoft.com/office/drawing/2014/main" id="{77C413AD-8F5A-416C-5C9C-0D838CECF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38" y="1778650"/>
            <a:ext cx="5696724" cy="1923292"/>
          </a:xfrm>
          <a:prstGeom prst="rect">
            <a:avLst/>
          </a:prstGeom>
        </p:spPr>
      </p:pic>
      <p:pic>
        <p:nvPicPr>
          <p:cNvPr id="11" name="图片 10" descr="图示&#10;&#10;描述已自动生成">
            <a:extLst>
              <a:ext uri="{FF2B5EF4-FFF2-40B4-BE49-F238E27FC236}">
                <a16:creationId xmlns:a16="http://schemas.microsoft.com/office/drawing/2014/main" id="{47516E27-C71A-9060-A42A-DABF5D43E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38" y="3789903"/>
            <a:ext cx="4629922" cy="192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23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逻辑表达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167311"/>
          </a:xfrm>
        </p:spPr>
        <p:txBody>
          <a:bodyPr>
            <a:normAutofit lnSpcReduction="10000"/>
          </a:bodyPr>
          <a:lstStyle/>
          <a:p>
            <a:pPr marL="0" indent="0" defTabSz="3600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4. </a:t>
            </a:r>
            <a:r>
              <a:rPr lang="zh-CN" altLang="en-US" b="1" dirty="0">
                <a:solidFill>
                  <a:srgbClr val="FFC000"/>
                </a:solidFill>
              </a:rPr>
              <a:t>实例化语句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 defTabSz="360000">
              <a:lnSpc>
                <a:spcPct val="12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模块实例化是将一个模块作为组间使用在另一个模块中，通过实例化，可将复杂的设计分解为更小的、可复用的模块。模块实例化格式有</a:t>
            </a:r>
            <a:r>
              <a:rPr lang="zh-CN" altLang="en-US" sz="2000" dirty="0">
                <a:solidFill>
                  <a:srgbClr val="FF0000"/>
                </a:solidFill>
              </a:rPr>
              <a:t>顺序引用</a:t>
            </a:r>
            <a:r>
              <a:rPr lang="zh-CN" altLang="en-US" sz="2000" dirty="0"/>
              <a:t>与</a:t>
            </a:r>
            <a:r>
              <a:rPr lang="zh-CN" altLang="en-US" sz="2000" dirty="0">
                <a:solidFill>
                  <a:srgbClr val="FF0000"/>
                </a:solidFill>
              </a:rPr>
              <a:t>名称引用</a:t>
            </a:r>
            <a:r>
              <a:rPr lang="zh-CN" altLang="en-US" sz="2000" dirty="0"/>
              <a:t>两种，具体如下：</a:t>
            </a:r>
            <a:endParaRPr lang="en-US" altLang="zh-CN" sz="2000" dirty="0"/>
          </a:p>
          <a:p>
            <a:pPr marL="0" indent="0" defTabSz="36000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顺序引用：</a:t>
            </a:r>
            <a:r>
              <a:rPr lang="en-US" altLang="zh-CN" sz="2000" dirty="0">
                <a:solidFill>
                  <a:srgbClr val="FF0000"/>
                </a:solidFill>
              </a:rPr>
              <a:t>&lt;</a:t>
            </a:r>
            <a:r>
              <a:rPr lang="zh-CN" altLang="en-US" sz="2000" dirty="0">
                <a:solidFill>
                  <a:srgbClr val="FF0000"/>
                </a:solidFill>
              </a:rPr>
              <a:t>原模块名</a:t>
            </a:r>
            <a:r>
              <a:rPr lang="en-US" altLang="zh-CN" sz="2000" dirty="0">
                <a:solidFill>
                  <a:srgbClr val="FF0000"/>
                </a:solidFill>
              </a:rPr>
              <a:t>&gt; &lt;</a:t>
            </a:r>
            <a:r>
              <a:rPr lang="zh-CN" altLang="en-US" sz="2000" dirty="0">
                <a:solidFill>
                  <a:srgbClr val="FF0000"/>
                </a:solidFill>
              </a:rPr>
              <a:t>本次实例化名称</a:t>
            </a:r>
            <a:r>
              <a:rPr lang="en-US" altLang="zh-CN" sz="2000" dirty="0">
                <a:solidFill>
                  <a:srgbClr val="FF0000"/>
                </a:solidFill>
              </a:rPr>
              <a:t>&gt; (</a:t>
            </a:r>
            <a:r>
              <a:rPr lang="zh-CN" altLang="en-US" sz="2000" dirty="0">
                <a:solidFill>
                  <a:srgbClr val="FF0000"/>
                </a:solidFill>
              </a:rPr>
              <a:t>端口绑定信号</a:t>
            </a:r>
            <a:r>
              <a:rPr lang="en-US" altLang="zh-CN" sz="2000" dirty="0">
                <a:solidFill>
                  <a:srgbClr val="FF0000"/>
                </a:solidFill>
              </a:rPr>
              <a:t>1, </a:t>
            </a:r>
            <a:r>
              <a:rPr lang="zh-CN" altLang="en-US" sz="2000" dirty="0">
                <a:solidFill>
                  <a:srgbClr val="FF0000"/>
                </a:solidFill>
              </a:rPr>
              <a:t>端口绑定信号</a:t>
            </a:r>
            <a:r>
              <a:rPr lang="en-US" altLang="zh-CN" sz="2000" dirty="0">
                <a:solidFill>
                  <a:srgbClr val="FF0000"/>
                </a:solidFill>
              </a:rPr>
              <a:t>2, …)</a:t>
            </a:r>
          </a:p>
          <a:p>
            <a:pPr marL="0" indent="0" defTabSz="36000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	</a:t>
            </a:r>
            <a:r>
              <a:rPr lang="zh-CN" altLang="en-US" sz="2000" dirty="0"/>
              <a:t>顺序引用方法中，端口信号的绑定顺序必须与原模块端口信号列表顺序完全一致。</a:t>
            </a:r>
            <a:endParaRPr lang="en-US" altLang="zh-CN" sz="2000" dirty="0"/>
          </a:p>
          <a:p>
            <a:pPr marL="0" indent="0" defTabSz="36000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名称引用：</a:t>
            </a:r>
            <a:r>
              <a:rPr lang="en-US" altLang="zh-CN" sz="2000" dirty="0">
                <a:solidFill>
                  <a:srgbClr val="FF0000"/>
                </a:solidFill>
              </a:rPr>
              <a:t>&lt;</a:t>
            </a:r>
            <a:r>
              <a:rPr lang="zh-CN" altLang="en-US" sz="2000" dirty="0">
                <a:solidFill>
                  <a:srgbClr val="FF0000"/>
                </a:solidFill>
              </a:rPr>
              <a:t>原模块名</a:t>
            </a:r>
            <a:r>
              <a:rPr lang="en-US" altLang="zh-CN" sz="2000" dirty="0">
                <a:solidFill>
                  <a:srgbClr val="FF0000"/>
                </a:solidFill>
              </a:rPr>
              <a:t>&gt; &lt;</a:t>
            </a:r>
            <a:r>
              <a:rPr lang="zh-CN" altLang="en-US" sz="2000" dirty="0">
                <a:solidFill>
                  <a:srgbClr val="FF0000"/>
                </a:solidFill>
              </a:rPr>
              <a:t>本次实例化名称</a:t>
            </a:r>
            <a:r>
              <a:rPr lang="en-US" altLang="zh-CN" sz="2000" dirty="0">
                <a:solidFill>
                  <a:srgbClr val="FF0000"/>
                </a:solidFill>
              </a:rPr>
              <a:t>&gt; (.</a:t>
            </a:r>
            <a:r>
              <a:rPr lang="zh-CN" altLang="en-US" sz="2000" dirty="0">
                <a:solidFill>
                  <a:srgbClr val="FF0000"/>
                </a:solidFill>
              </a:rPr>
              <a:t>原端口名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zh-CN" altLang="en-US" sz="2000" dirty="0">
                <a:solidFill>
                  <a:srgbClr val="FF0000"/>
                </a:solidFill>
              </a:rPr>
              <a:t>绑定信号</a:t>
            </a:r>
            <a:r>
              <a:rPr lang="en-US" altLang="zh-CN" sz="2000" dirty="0">
                <a:solidFill>
                  <a:srgbClr val="FF0000"/>
                </a:solidFill>
              </a:rPr>
              <a:t>1), </a:t>
            </a:r>
          </a:p>
          <a:p>
            <a:pPr marL="0" indent="0" defTabSz="36000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			.</a:t>
            </a:r>
            <a:r>
              <a:rPr lang="zh-CN" altLang="en-US" sz="2000" dirty="0">
                <a:solidFill>
                  <a:srgbClr val="FF0000"/>
                </a:solidFill>
              </a:rPr>
              <a:t>原端口名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zh-CN" altLang="en-US" sz="2000" dirty="0">
                <a:solidFill>
                  <a:srgbClr val="FF0000"/>
                </a:solidFill>
              </a:rPr>
              <a:t>绑定信号</a:t>
            </a:r>
            <a:r>
              <a:rPr lang="en-US" altLang="zh-CN" sz="2000" dirty="0">
                <a:solidFill>
                  <a:srgbClr val="FF0000"/>
                </a:solidFill>
              </a:rPr>
              <a:t>2), …)</a:t>
            </a:r>
          </a:p>
          <a:p>
            <a:pPr marL="0" indent="0" defTabSz="36000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	</a:t>
            </a:r>
            <a:r>
              <a:rPr lang="zh-CN" altLang="en-US" sz="2000" dirty="0"/>
              <a:t>名称引用方法中，端口信号绑定之前必须引用原模块端口列表中的信号名称，在端口结构复杂的实例化过程中推荐使用名称引用方法。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257930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逻辑表达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041883"/>
          </a:xfrm>
        </p:spPr>
        <p:txBody>
          <a:bodyPr>
            <a:normAutofit/>
          </a:bodyPr>
          <a:lstStyle/>
          <a:p>
            <a:pPr marL="0" indent="0" defTabSz="3600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5. </a:t>
            </a:r>
            <a:r>
              <a:rPr lang="zh-CN" altLang="en-US" b="1" dirty="0">
                <a:solidFill>
                  <a:srgbClr val="FFC000"/>
                </a:solidFill>
              </a:rPr>
              <a:t>顺序块（</a:t>
            </a:r>
            <a:r>
              <a:rPr lang="en-US" altLang="zh-CN" b="1" dirty="0">
                <a:solidFill>
                  <a:srgbClr val="FFC000"/>
                </a:solidFill>
              </a:rPr>
              <a:t>begin end</a:t>
            </a:r>
            <a:r>
              <a:rPr lang="zh-CN" altLang="en-US" b="1" dirty="0">
                <a:solidFill>
                  <a:srgbClr val="FFC000"/>
                </a:solidFill>
              </a:rPr>
              <a:t>）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 defTabSz="360000">
              <a:lnSpc>
                <a:spcPct val="11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顺序块语句与</a:t>
            </a:r>
            <a:r>
              <a:rPr lang="en-US" altLang="zh-CN" sz="2000" dirty="0"/>
              <a:t>C</a:t>
            </a:r>
            <a:r>
              <a:rPr lang="zh-CN" altLang="en-US" sz="2000" dirty="0"/>
              <a:t>语言的“</a:t>
            </a:r>
            <a:r>
              <a:rPr lang="en-US" altLang="zh-CN" sz="2000" dirty="0"/>
              <a:t>{ }</a:t>
            </a:r>
            <a:r>
              <a:rPr lang="zh-CN" altLang="en-US" sz="2000" dirty="0"/>
              <a:t>”类似，起着将多条语句包装成为一个完整语句块的作用。</a:t>
            </a:r>
            <a:endParaRPr lang="en-US" altLang="zh-CN" sz="2000" dirty="0"/>
          </a:p>
          <a:p>
            <a:pPr marL="0" indent="0" defTabSz="360000">
              <a:lnSpc>
                <a:spcPct val="11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）块内语句按顺序执行，只有上一条语句执行完成后下一条语句才能够执行；</a:t>
            </a:r>
            <a:endParaRPr lang="en-US" altLang="zh-CN" sz="2000" dirty="0"/>
          </a:p>
          <a:p>
            <a:pPr marL="0" indent="0" defTabSz="360000">
              <a:lnSpc>
                <a:spcPct val="11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）在仿真激励文件中，每条语句的延迟时间是相对于前一条语句的仿真时间而言；</a:t>
            </a:r>
            <a:endParaRPr lang="en-US" altLang="zh-CN" sz="2000" dirty="0"/>
          </a:p>
          <a:p>
            <a:pPr marL="0" indent="0" defTabSz="360000">
              <a:lnSpc>
                <a:spcPct val="110000"/>
              </a:lnSpc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顺序块语句的使用格式如下：</a:t>
            </a:r>
            <a:endParaRPr lang="en-US" altLang="zh-CN" sz="2000" dirty="0"/>
          </a:p>
          <a:p>
            <a:pPr marL="0" indent="0" algn="ctr" defTabSz="360000">
              <a:lnSpc>
                <a:spcPct val="110000"/>
              </a:lnSpc>
              <a:buNone/>
            </a:pPr>
            <a:r>
              <a:rPr lang="en-US" altLang="zh-CN" sz="2000" dirty="0"/>
              <a:t>begin: </a:t>
            </a:r>
            <a:r>
              <a:rPr lang="zh-CN" altLang="en-US" sz="2000" dirty="0"/>
              <a:t>块名 语句</a:t>
            </a:r>
            <a:r>
              <a:rPr lang="en-US" altLang="zh-CN" sz="2000" dirty="0"/>
              <a:t>1; </a:t>
            </a:r>
            <a:r>
              <a:rPr lang="zh-CN" altLang="en-US" sz="2000" dirty="0"/>
              <a:t>语句</a:t>
            </a:r>
            <a:r>
              <a:rPr lang="en-US" altLang="zh-CN" sz="2000" dirty="0"/>
              <a:t>2; …</a:t>
            </a:r>
            <a:r>
              <a:rPr lang="zh-CN" altLang="en-US" sz="2000" dirty="0"/>
              <a:t> 语句</a:t>
            </a:r>
            <a:r>
              <a:rPr lang="en-US" altLang="zh-CN" sz="2000" dirty="0"/>
              <a:t>n;</a:t>
            </a:r>
            <a:r>
              <a:rPr lang="zh-CN" altLang="en-US" sz="2000" dirty="0"/>
              <a:t> </a:t>
            </a:r>
            <a:r>
              <a:rPr lang="en-US" altLang="zh-CN" sz="2000" dirty="0"/>
              <a:t>end</a:t>
            </a:r>
          </a:p>
          <a:p>
            <a:pPr marL="0" indent="0" defTabSz="360000">
              <a:lnSpc>
                <a:spcPct val="110000"/>
              </a:lnSpc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冒号与块名可以缺省，块内可以包含部分参数声明语句。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744229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993E-0C24-A1FB-AB3A-BEAA71E9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逻辑表达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67727-0E89-5B7E-CF55-DEB27EA7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3943350" cy="431006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6. </a:t>
            </a:r>
            <a:r>
              <a:rPr lang="zh-CN" altLang="en-US" b="1" dirty="0">
                <a:solidFill>
                  <a:srgbClr val="FFC000"/>
                </a:solidFill>
              </a:rPr>
              <a:t>初始化块（</a:t>
            </a:r>
            <a:r>
              <a:rPr lang="en-US" altLang="zh-CN" b="1" dirty="0">
                <a:solidFill>
                  <a:srgbClr val="FFC000"/>
                </a:solidFill>
              </a:rPr>
              <a:t>initial</a:t>
            </a:r>
            <a:r>
              <a:rPr lang="zh-CN" altLang="en-US" b="1" dirty="0">
                <a:solidFill>
                  <a:srgbClr val="FFC000"/>
                </a:solidFill>
              </a:rPr>
              <a:t>）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/>
              <a:t>        </a:t>
            </a:r>
            <a:r>
              <a:rPr lang="zh-CN" altLang="en-US" sz="2000" dirty="0"/>
              <a:t>初始化块格式如下</a:t>
            </a:r>
            <a:endParaRPr lang="en-US" altLang="zh-CN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/>
              <a:t>            initial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/>
              <a:t>                begin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/>
              <a:t>                    </a:t>
            </a:r>
            <a:r>
              <a:rPr lang="zh-CN" altLang="en-US" sz="2000" dirty="0"/>
              <a:t>语句</a:t>
            </a:r>
            <a:r>
              <a:rPr lang="en-US" altLang="zh-CN" sz="2000" dirty="0"/>
              <a:t>1;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/>
              <a:t>                    </a:t>
            </a:r>
            <a:r>
              <a:rPr lang="zh-CN" altLang="en-US" sz="2000" dirty="0"/>
              <a:t>语句</a:t>
            </a:r>
            <a:r>
              <a:rPr lang="en-US" altLang="zh-CN" sz="2000" dirty="0"/>
              <a:t>2;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/>
              <a:t>                    …;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/>
              <a:t>                    </a:t>
            </a:r>
            <a:r>
              <a:rPr lang="zh-CN" altLang="en-US" sz="2000" dirty="0"/>
              <a:t>语句</a:t>
            </a:r>
            <a:r>
              <a:rPr lang="en-US" altLang="zh-CN" sz="2000" dirty="0"/>
              <a:t>n;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/>
              <a:t>                end</a:t>
            </a:r>
            <a:endParaRPr lang="en-US" altLang="zh-CN" sz="18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FDA973-2701-8D5F-736C-96FF41380FB7}"/>
              </a:ext>
            </a:extLst>
          </p:cNvPr>
          <p:cNvSpPr txBox="1">
            <a:spLocks/>
          </p:cNvSpPr>
          <p:nvPr/>
        </p:nvSpPr>
        <p:spPr>
          <a:xfrm>
            <a:off x="4572000" y="2226469"/>
            <a:ext cx="3943350" cy="377428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100" b="1" dirty="0">
                <a:solidFill>
                  <a:srgbClr val="FFC000"/>
                </a:solidFill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        </a:t>
            </a:r>
            <a:r>
              <a:rPr lang="zh-CN" altLang="en-US" sz="2000" dirty="0"/>
              <a:t>一个模块可以有多个</a:t>
            </a:r>
            <a:r>
              <a:rPr lang="en-US" altLang="zh-CN" sz="2000" dirty="0"/>
              <a:t>initial</a:t>
            </a:r>
            <a:r>
              <a:rPr lang="zh-CN" altLang="en-US" sz="2000" dirty="0"/>
              <a:t>块，它们之间是并行执行的关系，</a:t>
            </a:r>
            <a:r>
              <a:rPr lang="en-US" altLang="zh-CN" sz="2000" dirty="0"/>
              <a:t>initial</a:t>
            </a:r>
            <a:r>
              <a:rPr lang="zh-CN" altLang="en-US" sz="2000" dirty="0"/>
              <a:t>块常用于测试文件的编写，产生仿真测试信号和设置信号记录等仿真环境，寄存器类型变量的初始化也常用到</a:t>
            </a:r>
            <a:r>
              <a:rPr lang="en-US" altLang="zh-CN" sz="2000" dirty="0"/>
              <a:t>initial</a:t>
            </a:r>
            <a:r>
              <a:rPr lang="zh-CN" altLang="en-US" sz="2000" dirty="0"/>
              <a:t>块。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017799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2212</TotalTime>
  <Words>1719</Words>
  <Application>Microsoft Office PowerPoint</Application>
  <PresentationFormat>全屏显示(4:3)</PresentationFormat>
  <Paragraphs>138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主题​​</vt:lpstr>
      <vt:lpstr>Verilog HDL 语法简介 </vt:lpstr>
      <vt:lpstr>Verilog HDL 基本语法</vt:lpstr>
      <vt:lpstr>HDL简介</vt:lpstr>
      <vt:lpstr>module的结构</vt:lpstr>
      <vt:lpstr>module的结构</vt:lpstr>
      <vt:lpstr>数据与变量</vt:lpstr>
      <vt:lpstr>数据与变量</vt:lpstr>
      <vt:lpstr>数据与变量</vt:lpstr>
      <vt:lpstr>数据与变量</vt:lpstr>
      <vt:lpstr>逻辑表达</vt:lpstr>
      <vt:lpstr>逻辑表达</vt:lpstr>
      <vt:lpstr>逻辑表达</vt:lpstr>
      <vt:lpstr>逻辑表达</vt:lpstr>
      <vt:lpstr>逻辑表达</vt:lpstr>
      <vt:lpstr>逻辑表达</vt:lpstr>
      <vt:lpstr>逻辑表达</vt:lpstr>
      <vt:lpstr>逻辑表达</vt:lpstr>
      <vt:lpstr>逻辑表达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 基本语法 &amp; Xilinx ISE 开发环境</dc:title>
  <dc:creator>源 米</dc:creator>
  <cp:lastModifiedBy>源 米</cp:lastModifiedBy>
  <cp:revision>83</cp:revision>
  <dcterms:created xsi:type="dcterms:W3CDTF">2024-09-23T02:25:07Z</dcterms:created>
  <dcterms:modified xsi:type="dcterms:W3CDTF">2025-11-10T23:29:57Z</dcterms:modified>
</cp:coreProperties>
</file>