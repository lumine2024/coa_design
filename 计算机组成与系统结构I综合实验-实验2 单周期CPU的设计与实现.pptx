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9" r:id="rId5"/>
    <p:sldId id="264" r:id="rId6"/>
    <p:sldId id="265" r:id="rId7"/>
    <p:sldId id="266" r:id="rId8"/>
    <p:sldId id="267" r:id="rId9"/>
    <p:sldId id="269" r:id="rId10"/>
    <p:sldId id="268" r:id="rId11"/>
    <p:sldId id="280" r:id="rId12"/>
    <p:sldId id="271" r:id="rId13"/>
    <p:sldId id="278" r:id="rId14"/>
    <p:sldId id="275" r:id="rId15"/>
    <p:sldId id="276" r:id="rId16"/>
    <p:sldId id="277" r:id="rId17"/>
    <p:sldId id="274" r:id="rId18"/>
    <p:sldId id="273" r:id="rId19"/>
    <p:sldId id="28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1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55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650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85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80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201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96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9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1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97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1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8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A71A1-920A-4FAB-ADF5-C6A53AE99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44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ED5B8-598C-2225-141B-BE796372AD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计算机组成与系统结构</a:t>
            </a:r>
            <a:r>
              <a:rPr lang="en-US" altLang="zh-CN" b="1" dirty="0"/>
              <a:t>II</a:t>
            </a:r>
            <a:br>
              <a:rPr lang="en-US" altLang="zh-CN" b="1" dirty="0"/>
            </a:br>
            <a:r>
              <a:rPr lang="zh-CN" altLang="en-US" b="1" dirty="0"/>
              <a:t>综合实验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A67E98-AD0B-7C9B-6B09-E94E06FF0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实验</a:t>
            </a:r>
            <a:r>
              <a:rPr lang="en-US" altLang="zh-CN" dirty="0"/>
              <a:t>2 </a:t>
            </a:r>
            <a:r>
              <a:rPr lang="zh-CN" altLang="en-US" dirty="0"/>
              <a:t>单周期</a:t>
            </a:r>
            <a:r>
              <a:rPr lang="en-US" altLang="zh-CN" dirty="0"/>
              <a:t>CPU</a:t>
            </a:r>
            <a:r>
              <a:rPr lang="zh-CN" altLang="en-US" dirty="0"/>
              <a:t>的设计与实现</a:t>
            </a:r>
          </a:p>
        </p:txBody>
      </p:sp>
    </p:spTree>
    <p:extLst>
      <p:ext uri="{BB962C8B-B14F-4D97-AF65-F5344CB8AC3E}">
        <p14:creationId xmlns:p14="http://schemas.microsoft.com/office/powerpoint/2010/main" val="266492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75AB5-CE67-9381-B82E-77C0A4D4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课程安排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E7CBDD-8767-680A-5CEC-8E5A133C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/>
              <a:t>     </a:t>
            </a:r>
          </a:p>
          <a:p>
            <a:pPr marL="0" indent="0">
              <a:buNone/>
            </a:pPr>
            <a:r>
              <a:rPr lang="en-US" altLang="zh-CN" sz="2800" dirty="0"/>
              <a:t>    1. ALU</a:t>
            </a:r>
            <a:r>
              <a:rPr lang="zh-CN" altLang="en-US" sz="2800" dirty="0"/>
              <a:t>实现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2. </a:t>
            </a:r>
            <a:r>
              <a:rPr lang="zh-CN" altLang="en-US" sz="2800" dirty="0">
                <a:solidFill>
                  <a:srgbClr val="FF0000"/>
                </a:solidFill>
              </a:rPr>
              <a:t>单周期处理器设计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    3. </a:t>
            </a:r>
            <a:r>
              <a:rPr lang="zh-CN" altLang="en-US" sz="2800" dirty="0"/>
              <a:t>流水线处理器设计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4. </a:t>
            </a:r>
            <a:r>
              <a:rPr lang="zh-CN" altLang="en-US" sz="2800" dirty="0"/>
              <a:t>流水线冒险及处理</a:t>
            </a:r>
            <a:r>
              <a:rPr lang="en-US" altLang="zh-CN" sz="2800" dirty="0"/>
              <a:t>——</a:t>
            </a:r>
            <a:r>
              <a:rPr lang="zh-CN" altLang="en-US" sz="2800" dirty="0"/>
              <a:t>数据冒险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5. </a:t>
            </a:r>
            <a:r>
              <a:rPr lang="zh-CN" altLang="en-US" sz="2800" dirty="0"/>
              <a:t>流水线冒险及处理</a:t>
            </a:r>
            <a:r>
              <a:rPr lang="en-US" altLang="zh-CN" sz="2800" dirty="0"/>
              <a:t>——</a:t>
            </a:r>
            <a:r>
              <a:rPr lang="zh-CN" altLang="en-US" sz="2800" dirty="0"/>
              <a:t>控制冒险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0047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62350-64C1-9AC1-07AF-1B8E24C4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实验目的与要求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55A12-F932-94D6-BF89-2E659EDC8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zh-CN" altLang="en-US" sz="2800" b="1" dirty="0"/>
              <a:t>实验目的：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理解并掌握</a:t>
            </a:r>
            <a:r>
              <a:rPr lang="en-US" altLang="zh-CN" sz="2400" dirty="0"/>
              <a:t>MIPS</a:t>
            </a:r>
            <a:r>
              <a:rPr lang="zh-CN" altLang="en-US" sz="2400" dirty="0"/>
              <a:t>指令格式及相关指令的</a:t>
            </a:r>
            <a:r>
              <a:rPr lang="en-US" altLang="zh-CN" sz="2400" dirty="0"/>
              <a:t>RTL</a:t>
            </a:r>
            <a:r>
              <a:rPr lang="zh-CN" altLang="en-US" sz="2400" dirty="0"/>
              <a:t>描述；</a:t>
            </a:r>
            <a:r>
              <a:rPr lang="en-US" altLang="zh-CN" sz="2400" dirty="0"/>
              <a:t> </a:t>
            </a:r>
          </a:p>
          <a:p>
            <a:pPr marL="0" indent="0"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理解并掌握各类型指令的数据通路；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zh-CN" altLang="en-US" sz="2800" b="1" dirty="0"/>
              <a:t>实验要求：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基于</a:t>
            </a:r>
            <a:r>
              <a:rPr lang="en-US" altLang="zh-CN" sz="2400" dirty="0"/>
              <a:t>MIPS</a:t>
            </a:r>
            <a:r>
              <a:rPr lang="zh-CN" altLang="en-US" sz="2400" dirty="0"/>
              <a:t>指令集设计并实现单周期</a:t>
            </a:r>
            <a:r>
              <a:rPr lang="en-US" altLang="zh-CN" sz="2400" dirty="0"/>
              <a:t>CPU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基于</a:t>
            </a:r>
            <a:r>
              <a:rPr lang="en-US" altLang="zh-CN" sz="2400" dirty="0"/>
              <a:t>MIPS</a:t>
            </a:r>
            <a:r>
              <a:rPr lang="zh-CN" altLang="en-US" sz="2400" dirty="0"/>
              <a:t>指令集设计指令序列对</a:t>
            </a:r>
            <a:r>
              <a:rPr lang="en-US" altLang="zh-CN" sz="2400" dirty="0"/>
              <a:t>CPU</a:t>
            </a:r>
            <a:r>
              <a:rPr lang="zh-CN" altLang="en-US" sz="2400" dirty="0"/>
              <a:t>进行仿真验证；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34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9FF96-1BF6-105C-99E1-D1F6C665D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指令集格式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0C4A44E-4573-6316-5FA2-AA0832174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04217"/>
              </p:ext>
            </p:extLst>
          </p:nvPr>
        </p:nvGraphicFramePr>
        <p:xfrm>
          <a:off x="612000" y="1524435"/>
          <a:ext cx="7920000" cy="503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10926593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5833114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93974644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896949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87796616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26566952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24913913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425278399"/>
                    </a:ext>
                  </a:extLst>
                </a:gridCol>
              </a:tblGrid>
              <a:tr h="7148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TYPE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INST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[31:26]</a:t>
                      </a:r>
                    </a:p>
                    <a:p>
                      <a:pPr algn="ctr"/>
                      <a:r>
                        <a:rPr lang="en-US" altLang="zh-CN" sz="1800" b="1" dirty="0"/>
                        <a:t> OP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[25:21]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[20:16]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[15:11]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[10:6]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[5:0]</a:t>
                      </a:r>
                    </a:p>
                    <a:p>
                      <a:pPr algn="ctr"/>
                      <a:r>
                        <a:rPr lang="en-US" altLang="zh-CN" sz="1800" b="1" dirty="0" err="1"/>
                        <a:t>func</a:t>
                      </a:r>
                      <a:endParaRPr lang="zh-CN" altLang="en-US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8752228"/>
                  </a:ext>
                </a:extLst>
              </a:tr>
              <a:tr h="393191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R_type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add</a:t>
                      </a:r>
                      <a:endParaRPr lang="zh-CN" altLang="en-US" sz="18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000000</a:t>
                      </a:r>
                      <a:endParaRPr lang="zh-CN" altLang="en-US" sz="18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rs</a:t>
                      </a:r>
                      <a:endParaRPr lang="zh-CN" altLang="en-US" sz="18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rt</a:t>
                      </a:r>
                      <a:endParaRPr lang="zh-CN" altLang="en-US" sz="18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rd</a:t>
                      </a:r>
                      <a:endParaRPr lang="zh-CN" altLang="en-US" sz="18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X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100000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813640"/>
                  </a:ext>
                </a:extLst>
              </a:tr>
              <a:tr h="393191"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sub</a:t>
                      </a:r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100010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100690"/>
                  </a:ext>
                </a:extLst>
              </a:tr>
              <a:tr h="393191"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subu</a:t>
                      </a:r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100011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296818"/>
                  </a:ext>
                </a:extLst>
              </a:tr>
              <a:tr h="393191"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slt</a:t>
                      </a:r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101010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731416"/>
                  </a:ext>
                </a:extLst>
              </a:tr>
              <a:tr h="393191"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sltu</a:t>
                      </a:r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101011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128073"/>
                  </a:ext>
                </a:extLst>
              </a:tr>
              <a:tr h="39319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立即数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ori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001101</a:t>
                      </a:r>
                      <a:endParaRPr lang="zh-CN" altLang="en-US" sz="1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rs</a:t>
                      </a:r>
                      <a:endParaRPr lang="zh-CN" altLang="en-US" sz="1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rt</a:t>
                      </a:r>
                      <a:endParaRPr lang="zh-CN" altLang="en-US" sz="1800" dirty="0"/>
                    </a:p>
                  </a:txBody>
                  <a:tcPr anchor="ctr"/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immd</a:t>
                      </a:r>
                      <a:endParaRPr lang="zh-CN" altLang="en-US" sz="1800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689358"/>
                  </a:ext>
                </a:extLst>
              </a:tr>
              <a:tr h="393191"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addiu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001001</a:t>
                      </a:r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723041"/>
                  </a:ext>
                </a:extLst>
              </a:tr>
              <a:tr h="39319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存储器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lw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100011</a:t>
                      </a:r>
                      <a:endParaRPr lang="zh-CN" altLang="en-US" sz="1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rs</a:t>
                      </a:r>
                      <a:endParaRPr lang="zh-CN" altLang="en-US" sz="1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rt</a:t>
                      </a:r>
                      <a:endParaRPr lang="zh-CN" altLang="en-US" sz="1800" dirty="0"/>
                    </a:p>
                  </a:txBody>
                  <a:tcPr anchor="ctr"/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immd</a:t>
                      </a:r>
                      <a:endParaRPr lang="zh-CN" altLang="en-US" sz="1800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141139"/>
                  </a:ext>
                </a:extLst>
              </a:tr>
              <a:tr h="393191"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sw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101011</a:t>
                      </a:r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429303"/>
                  </a:ext>
                </a:extLst>
              </a:tr>
              <a:tr h="39319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分支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beq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000100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rs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rt</a:t>
                      </a:r>
                      <a:endParaRPr lang="zh-CN" altLang="en-US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immd</a:t>
                      </a:r>
                      <a:endParaRPr lang="zh-CN" altLang="en-US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536239"/>
                  </a:ext>
                </a:extLst>
              </a:tr>
              <a:tr h="393191"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jump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000010</a:t>
                      </a:r>
                      <a:endParaRPr lang="zh-CN" altLang="en-US" sz="1800" dirty="0"/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target</a:t>
                      </a:r>
                      <a:endParaRPr lang="zh-CN" altLang="en-US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7683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321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AF505-1235-9B3F-3397-36B722D8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数据通路的设计（完整通路）</a:t>
            </a:r>
          </a:p>
        </p:txBody>
      </p:sp>
      <p:pic>
        <p:nvPicPr>
          <p:cNvPr id="4" name="图片 3" descr="图示, 示意图&#10;&#10;描述已自动生成">
            <a:extLst>
              <a:ext uri="{FF2B5EF4-FFF2-40B4-BE49-F238E27FC236}">
                <a16:creationId xmlns:a16="http://schemas.microsoft.com/office/drawing/2014/main" id="{7B71DFBB-FE32-45C6-4B0B-C919F4AF6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66" y="1690689"/>
            <a:ext cx="8401067" cy="432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9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AF505-1235-9B3F-3397-36B722D8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数据通路的设计（</a:t>
            </a:r>
            <a:r>
              <a:rPr lang="en-US" altLang="zh-CN" b="1" dirty="0"/>
              <a:t>R</a:t>
            </a:r>
            <a:r>
              <a:rPr lang="zh-CN" altLang="en-US" b="1" dirty="0"/>
              <a:t>型）</a:t>
            </a:r>
          </a:p>
        </p:txBody>
      </p:sp>
      <p:pic>
        <p:nvPicPr>
          <p:cNvPr id="4" name="图片 3" descr="图示, 示意图&#10;&#10;描述已自动生成">
            <a:extLst>
              <a:ext uri="{FF2B5EF4-FFF2-40B4-BE49-F238E27FC236}">
                <a16:creationId xmlns:a16="http://schemas.microsoft.com/office/drawing/2014/main" id="{C7578D70-1F40-A0EF-858B-21A96DBCD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66" y="1690689"/>
            <a:ext cx="8401067" cy="47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47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AF505-1235-9B3F-3397-36B722D8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数据通路的设计（立即数）</a:t>
            </a:r>
          </a:p>
        </p:txBody>
      </p:sp>
      <p:pic>
        <p:nvPicPr>
          <p:cNvPr id="7" name="图片 6" descr="图示, 示意图&#10;&#10;描述已自动生成">
            <a:extLst>
              <a:ext uri="{FF2B5EF4-FFF2-40B4-BE49-F238E27FC236}">
                <a16:creationId xmlns:a16="http://schemas.microsoft.com/office/drawing/2014/main" id="{C533A8CF-0348-D5D1-BAAA-9BBD3A400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66" y="1690689"/>
            <a:ext cx="8401067" cy="47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135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AF505-1235-9B3F-3397-36B722D8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数据通路的设计（</a:t>
            </a:r>
            <a:r>
              <a:rPr lang="en-US" altLang="zh-CN" b="1" dirty="0" err="1"/>
              <a:t>Ioad</a:t>
            </a:r>
            <a:r>
              <a:rPr lang="zh-CN" altLang="en-US" b="1" dirty="0"/>
              <a:t>）</a:t>
            </a:r>
          </a:p>
        </p:txBody>
      </p:sp>
      <p:pic>
        <p:nvPicPr>
          <p:cNvPr id="5" name="图片 4" descr="图示, 示意图&#10;&#10;描述已自动生成">
            <a:extLst>
              <a:ext uri="{FF2B5EF4-FFF2-40B4-BE49-F238E27FC236}">
                <a16:creationId xmlns:a16="http://schemas.microsoft.com/office/drawing/2014/main" id="{82B2E166-3E0B-1001-4683-71C561A74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66" y="1690689"/>
            <a:ext cx="8401067" cy="47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341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AF505-1235-9B3F-3397-36B722D8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数据通路的设计（</a:t>
            </a:r>
            <a:r>
              <a:rPr lang="en-US" altLang="zh-CN" b="1" dirty="0"/>
              <a:t>store</a:t>
            </a:r>
            <a:r>
              <a:rPr lang="zh-CN" altLang="en-US" b="1" dirty="0"/>
              <a:t>）</a:t>
            </a:r>
          </a:p>
        </p:txBody>
      </p:sp>
      <p:pic>
        <p:nvPicPr>
          <p:cNvPr id="5" name="图片 4" descr="图示, 示意图&#10;&#10;描述已自动生成">
            <a:extLst>
              <a:ext uri="{FF2B5EF4-FFF2-40B4-BE49-F238E27FC236}">
                <a16:creationId xmlns:a16="http://schemas.microsoft.com/office/drawing/2014/main" id="{0A7029B5-6FBE-03B7-262B-362219EC4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66" y="1690689"/>
            <a:ext cx="8401067" cy="47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49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AF505-1235-9B3F-3397-36B722D8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数据通路的设计（分支）</a:t>
            </a:r>
          </a:p>
        </p:txBody>
      </p:sp>
      <p:pic>
        <p:nvPicPr>
          <p:cNvPr id="7" name="图片 6" descr="图示, 示意图&#10;&#10;描述已自动生成">
            <a:extLst>
              <a:ext uri="{FF2B5EF4-FFF2-40B4-BE49-F238E27FC236}">
                <a16:creationId xmlns:a16="http://schemas.microsoft.com/office/drawing/2014/main" id="{30599763-14C5-3D62-3BF1-506BE1F02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66" y="1690689"/>
            <a:ext cx="8401067" cy="47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100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AF505-1235-9B3F-3397-36B722D8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数据通路的设计（取指部件）</a:t>
            </a:r>
          </a:p>
        </p:txBody>
      </p:sp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66213AE0-C524-1509-DFE3-7A1DFA523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76" y="1690689"/>
            <a:ext cx="6901448" cy="381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59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AF505-1235-9B3F-3397-36B722D8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控制器设计（教材</a:t>
            </a:r>
            <a:r>
              <a:rPr lang="en-US" altLang="zh-CN" b="1" dirty="0"/>
              <a:t>147</a:t>
            </a:r>
            <a:r>
              <a:rPr lang="zh-CN" altLang="en-US" b="1" dirty="0"/>
              <a:t>）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43AF230-02B4-A3D4-5706-E3FE9A5AD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689634"/>
              </p:ext>
            </p:extLst>
          </p:nvPr>
        </p:nvGraphicFramePr>
        <p:xfrm>
          <a:off x="628650" y="1498600"/>
          <a:ext cx="7886700" cy="5128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314351291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98567247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30560477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3834687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43648992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6246269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12591263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03105656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98021909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50292508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77045139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60188088"/>
                    </a:ext>
                  </a:extLst>
                </a:gridCol>
              </a:tblGrid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INST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[5:0]</a:t>
                      </a:r>
                    </a:p>
                    <a:p>
                      <a:pPr algn="ctr"/>
                      <a:r>
                        <a:rPr lang="en-US" altLang="zh-CN" sz="1200" b="1" dirty="0"/>
                        <a:t>OP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[5:0]</a:t>
                      </a:r>
                    </a:p>
                    <a:p>
                      <a:pPr algn="ctr"/>
                      <a:r>
                        <a:rPr lang="en-US" altLang="zh-CN" sz="1200" b="1" dirty="0" err="1"/>
                        <a:t>func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Branch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Jump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err="1"/>
                        <a:t>RegDst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err="1"/>
                        <a:t>ALUsrc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[2:0]</a:t>
                      </a:r>
                    </a:p>
                    <a:p>
                      <a:pPr algn="ctr"/>
                      <a:r>
                        <a:rPr lang="en-US" altLang="zh-CN" sz="1200" b="1" dirty="0" err="1"/>
                        <a:t>ALUctr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Mem</a:t>
                      </a:r>
                    </a:p>
                    <a:p>
                      <a:pPr algn="ctr"/>
                      <a:r>
                        <a:rPr lang="en-US" altLang="zh-CN" sz="1200" b="1" dirty="0" err="1"/>
                        <a:t>toReg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err="1"/>
                        <a:t>RegWr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Mem</a:t>
                      </a:r>
                    </a:p>
                    <a:p>
                      <a:pPr algn="ctr"/>
                      <a:r>
                        <a:rPr lang="en-US" altLang="zh-CN" sz="1200" b="1" dirty="0" err="1"/>
                        <a:t>Wr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err="1"/>
                        <a:t>ExtOp</a:t>
                      </a:r>
                      <a:endParaRPr lang="zh-CN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172355"/>
                  </a:ext>
                </a:extLst>
              </a:tr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000000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003220"/>
                  </a:ext>
                </a:extLst>
              </a:tr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sub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000000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100010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944380"/>
                  </a:ext>
                </a:extLst>
              </a:tr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subu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000000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100011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302982"/>
                  </a:ext>
                </a:extLst>
              </a:tr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slt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000000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101010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715654"/>
                  </a:ext>
                </a:extLst>
              </a:tr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sltu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000000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101011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511232"/>
                  </a:ext>
                </a:extLst>
              </a:tr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ori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001101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265625"/>
                  </a:ext>
                </a:extLst>
              </a:tr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addiu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001001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098936"/>
                  </a:ext>
                </a:extLst>
              </a:tr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lw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100011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047018"/>
                  </a:ext>
                </a:extLst>
              </a:tr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sw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101011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889059"/>
                  </a:ext>
                </a:extLst>
              </a:tr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beq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000100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213736"/>
                  </a:ext>
                </a:extLst>
              </a:tr>
              <a:tr h="424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jump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000010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等线" panose="02010600030101010101" pitchFamily="2" charset="-122"/>
                          <a:cs typeface="+mn-cs"/>
                        </a:rPr>
                        <a:t>X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813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557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079AB6-58EA-4D53-FF58-8A29E13C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控制器设计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24E2D2-C07A-3B85-5369-ECB83187B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设置信号</a:t>
            </a:r>
            <a:r>
              <a:rPr lang="en-US" altLang="zh-CN" dirty="0" err="1"/>
              <a:t>R_type</a:t>
            </a:r>
            <a:r>
              <a:rPr lang="zh-CN" altLang="en-US" dirty="0"/>
              <a:t>将指令类型划分为</a:t>
            </a:r>
            <a:r>
              <a:rPr lang="en-US" altLang="zh-CN" dirty="0"/>
              <a:t>R</a:t>
            </a:r>
            <a:r>
              <a:rPr lang="zh-CN" altLang="en-US" dirty="0"/>
              <a:t>型指令与非</a:t>
            </a:r>
            <a:r>
              <a:rPr lang="en-US" altLang="zh-CN" dirty="0"/>
              <a:t>R</a:t>
            </a:r>
            <a:r>
              <a:rPr lang="zh-CN" altLang="en-US" dirty="0"/>
              <a:t>型指令，</a:t>
            </a:r>
            <a:r>
              <a:rPr lang="en-US" altLang="zh-CN" dirty="0"/>
              <a:t>ALU</a:t>
            </a:r>
            <a:r>
              <a:rPr lang="zh-CN" altLang="en-US" dirty="0"/>
              <a:t>控制型号</a:t>
            </a:r>
            <a:r>
              <a:rPr lang="en-US" altLang="zh-CN" dirty="0" err="1"/>
              <a:t>ALUctr</a:t>
            </a:r>
            <a:r>
              <a:rPr lang="zh-CN" altLang="en-US" dirty="0"/>
              <a:t>根据此信号由不同的部件生成，结构如下所示：</a:t>
            </a:r>
          </a:p>
        </p:txBody>
      </p:sp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6DB54A37-8260-BE62-67A1-00F405B56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58" y="3235318"/>
            <a:ext cx="7402083" cy="325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36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26522-E130-C551-7791-1EB95579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设计参考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AC8D-0042-AB53-20C7-627C462E7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实现过程中，各模块的实例化写法推荐使用“名称引用”的写法；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处理器结构中的程序计数器</a:t>
            </a:r>
            <a:r>
              <a:rPr lang="en-US" altLang="zh-CN" sz="2400" dirty="0"/>
              <a:t>PC</a:t>
            </a:r>
            <a:r>
              <a:rPr lang="zh-CN" altLang="en-US" sz="2400" dirty="0"/>
              <a:t>、寄存器组</a:t>
            </a:r>
            <a:r>
              <a:rPr lang="en-US" altLang="zh-CN" sz="2400" dirty="0" err="1"/>
              <a:t>RegFiles</a:t>
            </a:r>
            <a:r>
              <a:rPr lang="zh-CN" altLang="en-US" sz="2400" dirty="0"/>
              <a:t>与数据存储器</a:t>
            </a:r>
            <a:r>
              <a:rPr lang="en-US" altLang="zh-CN" sz="2400" dirty="0" err="1"/>
              <a:t>DataRAM</a:t>
            </a:r>
            <a:r>
              <a:rPr lang="zh-CN" altLang="en-US" sz="2400" dirty="0"/>
              <a:t>在设计时均已加入初始化命令；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处理器结构中的程序计数器</a:t>
            </a:r>
            <a:r>
              <a:rPr lang="en-US" altLang="zh-CN" sz="2400" dirty="0"/>
              <a:t>PC</a:t>
            </a:r>
            <a:r>
              <a:rPr lang="zh-CN" altLang="en-US" sz="2400" dirty="0"/>
              <a:t>、寄存器组</a:t>
            </a:r>
            <a:r>
              <a:rPr lang="en-US" altLang="zh-CN" sz="2400" dirty="0" err="1"/>
              <a:t>RegFiles</a:t>
            </a:r>
            <a:r>
              <a:rPr lang="zh-CN" altLang="en-US" sz="2400" dirty="0"/>
              <a:t>与数据存储器</a:t>
            </a:r>
            <a:r>
              <a:rPr lang="en-US" altLang="zh-CN" sz="2400" dirty="0" err="1"/>
              <a:t>DataRAM</a:t>
            </a:r>
            <a:r>
              <a:rPr lang="zh-CN" altLang="en-US" sz="2400" dirty="0"/>
              <a:t>中，数据的更新方式统一采用时钟下降沿更新；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4. </a:t>
            </a:r>
            <a:r>
              <a:rPr lang="zh-CN" altLang="en-US" sz="2400" dirty="0"/>
              <a:t>指令存储器为按字节寻址，地址从</a:t>
            </a:r>
            <a:r>
              <a:rPr lang="en-US" altLang="zh-CN" sz="2400" dirty="0"/>
              <a:t>0</a:t>
            </a:r>
            <a:r>
              <a:rPr lang="zh-CN" altLang="en-US" sz="2400" dirty="0"/>
              <a:t>开始，如指令存储器定义为“</a:t>
            </a:r>
            <a:r>
              <a:rPr lang="en-US" altLang="zh-CN" sz="2400" dirty="0"/>
              <a:t>[31:0] </a:t>
            </a:r>
            <a:r>
              <a:rPr lang="en-US" altLang="zh-CN" sz="2400" dirty="0" err="1"/>
              <a:t>InstROM</a:t>
            </a:r>
            <a:r>
              <a:rPr lang="en-US" altLang="zh-CN" sz="2400" dirty="0"/>
              <a:t> [31:0]</a:t>
            </a:r>
            <a:r>
              <a:rPr lang="zh-CN" altLang="en-US" sz="2400" dirty="0"/>
              <a:t>” ，其第</a:t>
            </a:r>
            <a:r>
              <a:rPr lang="en-US" altLang="zh-CN" sz="2400" dirty="0"/>
              <a:t>5</a:t>
            </a:r>
            <a:r>
              <a:rPr lang="zh-CN" altLang="en-US" sz="2400" dirty="0"/>
              <a:t>条指令的外部地址为“</a:t>
            </a:r>
            <a:r>
              <a:rPr lang="en-US" altLang="zh-CN" sz="2400" dirty="0" err="1"/>
              <a:t>32’h00000014</a:t>
            </a:r>
            <a:r>
              <a:rPr lang="zh-CN" altLang="en-US" sz="2400" dirty="0"/>
              <a:t>”；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677922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26522-E130-C551-7791-1EB95579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设计参考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AC8D-0042-AB53-20C7-627C462E7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5. </a:t>
            </a:r>
            <a:r>
              <a:rPr lang="zh-CN" altLang="en-US" sz="2400" dirty="0"/>
              <a:t>单周期处理器结构中所使用的多路选择器，需自行设计实现，接口定义如下：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module MUX3X2 (		//3</a:t>
            </a:r>
            <a:r>
              <a:rPr lang="zh-CN" altLang="en-US" sz="2400" dirty="0"/>
              <a:t>位</a:t>
            </a:r>
            <a:r>
              <a:rPr lang="en-US" altLang="zh-CN" sz="2400" dirty="0"/>
              <a:t>2</a:t>
            </a:r>
            <a:r>
              <a:rPr lang="zh-CN" altLang="en-US" sz="2400" dirty="0"/>
              <a:t>选</a:t>
            </a:r>
            <a:r>
              <a:rPr lang="en-US" altLang="zh-CN" sz="2400" dirty="0"/>
              <a:t>1</a:t>
            </a:r>
            <a:r>
              <a:rPr lang="zh-CN" altLang="en-US" sz="2400" dirty="0"/>
              <a:t>多路选择器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	input [2:0] X1, X0,</a:t>
            </a:r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	input S,</a:t>
            </a:r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	output [2:0] Y</a:t>
            </a:r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);</a:t>
            </a:r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module MUX5X2 (		//5</a:t>
            </a:r>
            <a:r>
              <a:rPr lang="zh-CN" altLang="en-US" sz="2400" dirty="0"/>
              <a:t>位</a:t>
            </a:r>
            <a:r>
              <a:rPr lang="en-US" altLang="zh-CN" sz="2400" dirty="0"/>
              <a:t>2</a:t>
            </a:r>
            <a:r>
              <a:rPr lang="zh-CN" altLang="en-US" sz="2400" dirty="0"/>
              <a:t>选</a:t>
            </a:r>
            <a:r>
              <a:rPr lang="en-US" altLang="zh-CN" sz="2400" dirty="0"/>
              <a:t>1</a:t>
            </a:r>
            <a:r>
              <a:rPr lang="zh-CN" altLang="en-US" sz="2400" dirty="0"/>
              <a:t>多路选择器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	input [4:0] X1, X0,</a:t>
            </a:r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	input S,</a:t>
            </a:r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	output [4:0] Y</a:t>
            </a:r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3036695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26522-E130-C551-7791-1EB95579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设计参考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AC8D-0042-AB53-20C7-627C462E7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6. </a:t>
            </a:r>
            <a:r>
              <a:rPr lang="zh-CN" altLang="en-US" sz="2400" dirty="0"/>
              <a:t>激励文件</a:t>
            </a:r>
            <a:r>
              <a:rPr lang="en-US" altLang="zh-CN" sz="2400" dirty="0"/>
              <a:t>Verilog Test Fixture</a:t>
            </a:r>
            <a:r>
              <a:rPr lang="zh-CN" altLang="en-US" sz="2400" dirty="0"/>
              <a:t>可参考如下代码：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        module xxx;		//</a:t>
            </a:r>
            <a:r>
              <a:rPr lang="zh-CN" altLang="en-US" sz="2400" dirty="0"/>
              <a:t>激励文件；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…			//</a:t>
            </a:r>
            <a:r>
              <a:rPr lang="zh-CN" altLang="en-US" sz="2400" dirty="0"/>
              <a:t>仿真模块实例化；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initial begin		//</a:t>
            </a:r>
            <a:r>
              <a:rPr lang="zh-CN" altLang="en-US" sz="2400" dirty="0"/>
              <a:t>激励信号设置；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    // Initialize Inputs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         </a:t>
            </a:r>
            <a:r>
              <a:rPr lang="en-US" altLang="zh-CN" sz="2400" dirty="0" err="1"/>
              <a:t>Clk</a:t>
            </a:r>
            <a:r>
              <a:rPr lang="en-US" altLang="zh-CN" sz="2400" dirty="0"/>
              <a:t> = 0;		//</a:t>
            </a:r>
            <a:r>
              <a:rPr lang="zh-CN" altLang="en-US" sz="2400" dirty="0"/>
              <a:t>时钟信号初始化；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	    Reset = 1;		//</a:t>
            </a:r>
            <a:r>
              <a:rPr lang="zh-CN" altLang="en-US" sz="2400" dirty="0">
                <a:solidFill>
                  <a:srgbClr val="FF0000"/>
                </a:solidFill>
              </a:rPr>
              <a:t>程序计数器复位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    #100</a:t>
            </a:r>
            <a:r>
              <a:rPr lang="zh-CN" altLang="en-US" sz="2400" dirty="0"/>
              <a:t>；</a:t>
            </a:r>
            <a:r>
              <a:rPr lang="en-US" altLang="zh-CN" sz="2400" dirty="0"/>
              <a:t>		//</a:t>
            </a:r>
            <a:r>
              <a:rPr lang="zh-CN" altLang="en-US" sz="2400" dirty="0"/>
              <a:t>等待复位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	    Reset = 0;		//</a:t>
            </a:r>
            <a:r>
              <a:rPr lang="zh-CN" altLang="en-US" sz="2400" dirty="0">
                <a:solidFill>
                  <a:srgbClr val="FF0000"/>
                </a:solidFill>
              </a:rPr>
              <a:t>复位结束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end			//</a:t>
            </a:r>
            <a:r>
              <a:rPr lang="zh-CN" altLang="en-US" sz="2400" dirty="0"/>
              <a:t>激励信号内容结束；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FF0000"/>
                </a:solidFill>
              </a:rPr>
              <a:t>always #50 </a:t>
            </a:r>
            <a:r>
              <a:rPr lang="en-US" altLang="zh-CN" sz="2400" dirty="0" err="1">
                <a:solidFill>
                  <a:srgbClr val="FF0000"/>
                </a:solidFill>
              </a:rPr>
              <a:t>Clk</a:t>
            </a:r>
            <a:r>
              <a:rPr lang="en-US" altLang="zh-CN" sz="2400" dirty="0">
                <a:solidFill>
                  <a:srgbClr val="FF0000"/>
                </a:solidFill>
              </a:rPr>
              <a:t> = ~</a:t>
            </a:r>
            <a:r>
              <a:rPr lang="en-US" altLang="zh-CN" sz="2400" dirty="0" err="1">
                <a:solidFill>
                  <a:srgbClr val="FF0000"/>
                </a:solidFill>
              </a:rPr>
              <a:t>Clk</a:t>
            </a:r>
            <a:r>
              <a:rPr lang="en-US" altLang="zh-CN" sz="2400" dirty="0">
                <a:solidFill>
                  <a:srgbClr val="FF0000"/>
                </a:solidFill>
              </a:rPr>
              <a:t>;	//</a:t>
            </a:r>
            <a:r>
              <a:rPr lang="zh-CN" altLang="en-US" sz="2400" dirty="0">
                <a:solidFill>
                  <a:srgbClr val="FF0000"/>
                </a:solidFill>
              </a:rPr>
              <a:t>生成周期为</a:t>
            </a:r>
            <a:r>
              <a:rPr lang="en-US" altLang="zh-CN" sz="2400" dirty="0">
                <a:solidFill>
                  <a:srgbClr val="FF0000"/>
                </a:solidFill>
              </a:rPr>
              <a:t>100</a:t>
            </a:r>
            <a:r>
              <a:rPr lang="zh-CN" altLang="en-US" sz="2400" dirty="0">
                <a:solidFill>
                  <a:srgbClr val="FF0000"/>
                </a:solidFill>
              </a:rPr>
              <a:t>的时钟信号；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endmodule</a:t>
            </a:r>
            <a:r>
              <a:rPr lang="en-US" altLang="zh-CN" sz="2400" dirty="0"/>
              <a:t>		//</a:t>
            </a:r>
            <a:r>
              <a:rPr lang="zh-CN" altLang="en-US" sz="2400" dirty="0"/>
              <a:t>激励文件结束；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018942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26522-E130-C551-7791-1EB95579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AC8D-0042-AB53-20C7-627C462E7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阅读单周期处理器结构中各部件模块代码，理解其接口含义与工作原理；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编写</a:t>
            </a:r>
            <a:r>
              <a:rPr lang="en-US" altLang="zh-CN" sz="2400" dirty="0"/>
              <a:t>CPU</a:t>
            </a:r>
            <a:r>
              <a:rPr lang="zh-CN" altLang="en-US" sz="2400" dirty="0"/>
              <a:t>顶层模块，实例化处理器结构中各部件模块，构成完整的单周期处理器结构，接口定义如下：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module CPU (</a:t>
            </a:r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	input </a:t>
            </a:r>
            <a:r>
              <a:rPr lang="en-US" altLang="zh-CN" sz="2400" dirty="0" err="1"/>
              <a:t>Clk</a:t>
            </a:r>
            <a:r>
              <a:rPr lang="en-US" altLang="zh-CN" sz="2400" dirty="0"/>
              <a:t>,				//</a:t>
            </a:r>
            <a:r>
              <a:rPr lang="zh-CN" altLang="en-US" sz="2400" dirty="0"/>
              <a:t>时钟信号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	output [31:0] PC,		//</a:t>
            </a:r>
            <a:r>
              <a:rPr lang="zh-CN" altLang="en-US" sz="2400" dirty="0"/>
              <a:t>指令地址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	output [31:0] Inst,	//</a:t>
            </a:r>
            <a:r>
              <a:rPr lang="zh-CN" altLang="en-US" sz="2400" dirty="0"/>
              <a:t>指令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	output [31:0] R		//</a:t>
            </a:r>
            <a:r>
              <a:rPr lang="zh-CN" altLang="en-US" sz="2400" dirty="0"/>
              <a:t>指令的</a:t>
            </a:r>
            <a:r>
              <a:rPr lang="en-US" altLang="zh-CN" sz="2400" dirty="0"/>
              <a:t>ALU</a:t>
            </a:r>
            <a:r>
              <a:rPr lang="zh-CN" altLang="en-US" sz="2400" dirty="0"/>
              <a:t>运算结果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1980927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26522-E130-C551-7791-1EB95579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AC8D-0042-AB53-20C7-627C462E7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设计一个指令序列写入指令存储器模块</a:t>
            </a:r>
            <a:r>
              <a:rPr lang="en-US" altLang="zh-CN" sz="2400" dirty="0" err="1"/>
              <a:t>InstROM</a:t>
            </a:r>
            <a:r>
              <a:rPr lang="zh-CN" altLang="en-US" sz="2400" dirty="0"/>
              <a:t>，要求包含指令集中的所有指令，其中条件跳转</a:t>
            </a:r>
            <a:r>
              <a:rPr lang="en-US" altLang="zh-CN" sz="2400" dirty="0" err="1"/>
              <a:t>beq</a:t>
            </a:r>
            <a:r>
              <a:rPr lang="zh-CN" altLang="en-US" sz="2400" dirty="0"/>
              <a:t>指令至少含有两条，分别实现跳转成功与跳转失败两种条件。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/>
              <a:t>4. </a:t>
            </a:r>
            <a:r>
              <a:rPr lang="zh-CN" altLang="en-US" sz="2400" dirty="0"/>
              <a:t>对所实现的单周期处理器进行仿真验证，结合指令序列与仿真波形分析实验结果。</a:t>
            </a:r>
          </a:p>
        </p:txBody>
      </p:sp>
    </p:spTree>
    <p:extLst>
      <p:ext uri="{BB962C8B-B14F-4D97-AF65-F5344CB8AC3E}">
        <p14:creationId xmlns:p14="http://schemas.microsoft.com/office/powerpoint/2010/main" val="3338271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A536B3-A156-2996-9534-16EAFA24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1F21EB-8FD9-823A-A6F1-B3E006CF5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将实验</a:t>
            </a:r>
            <a:r>
              <a:rPr lang="en-US" altLang="zh-CN" dirty="0"/>
              <a:t>1</a:t>
            </a:r>
            <a:r>
              <a:rPr lang="zh-CN" altLang="en-US" dirty="0"/>
              <a:t>“课后作业</a:t>
            </a:r>
            <a:r>
              <a:rPr lang="en-US" altLang="zh-CN" dirty="0"/>
              <a:t>4</a:t>
            </a:r>
            <a:r>
              <a:rPr lang="zh-CN" altLang="en-US" dirty="0"/>
              <a:t>”中的指令序列写入指令存储器</a:t>
            </a:r>
            <a:r>
              <a:rPr lang="en-US" altLang="zh-CN" dirty="0" err="1"/>
              <a:t>InstROM</a:t>
            </a:r>
            <a:r>
              <a:rPr lang="zh-CN" altLang="en-US" dirty="0"/>
              <a:t>并进行仿真分析。结合程序计数器</a:t>
            </a:r>
            <a:r>
              <a:rPr lang="en-US" altLang="zh-CN" dirty="0"/>
              <a:t>PC</a:t>
            </a:r>
            <a:r>
              <a:rPr lang="zh-CN" altLang="en-US" dirty="0"/>
              <a:t>、寄存器组</a:t>
            </a:r>
            <a:r>
              <a:rPr lang="en-US" altLang="zh-CN" dirty="0" err="1"/>
              <a:t>RegFiles</a:t>
            </a:r>
            <a:r>
              <a:rPr lang="zh-CN" altLang="en-US" dirty="0"/>
              <a:t>与数据存储器</a:t>
            </a:r>
            <a:r>
              <a:rPr lang="en-US" altLang="zh-CN" dirty="0" err="1"/>
              <a:t>DataRAM</a:t>
            </a:r>
            <a:r>
              <a:rPr lang="zh-CN" altLang="en-US" dirty="0"/>
              <a:t>中</a:t>
            </a:r>
            <a:r>
              <a:rPr lang="zh-CN" altLang="en-US"/>
              <a:t>的内容验证指令执行结果。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预习教材</a:t>
            </a:r>
            <a:r>
              <a:rPr lang="en-US" altLang="zh-CN" dirty="0"/>
              <a:t>6.2</a:t>
            </a:r>
            <a:r>
              <a:rPr lang="zh-CN" altLang="en-US" dirty="0"/>
              <a:t>小节“流水线处理器的实现”</a:t>
            </a:r>
          </a:p>
        </p:txBody>
      </p:sp>
    </p:spTree>
    <p:extLst>
      <p:ext uri="{BB962C8B-B14F-4D97-AF65-F5344CB8AC3E}">
        <p14:creationId xmlns:p14="http://schemas.microsoft.com/office/powerpoint/2010/main" val="53796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1567</TotalTime>
  <Words>1013</Words>
  <Application>Microsoft Office PowerPoint</Application>
  <PresentationFormat>全屏显示(4:3)</PresentationFormat>
  <Paragraphs>275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主题​​</vt:lpstr>
      <vt:lpstr>计算机组成与系统结构II 综合实验</vt:lpstr>
      <vt:lpstr>课程安排</vt:lpstr>
      <vt:lpstr>实验目的与要求</vt:lpstr>
      <vt:lpstr>指令集格式</vt:lpstr>
      <vt:lpstr>数据通路的设计（完整通路）</vt:lpstr>
      <vt:lpstr>数据通路的设计（R型）</vt:lpstr>
      <vt:lpstr>数据通路的设计（立即数）</vt:lpstr>
      <vt:lpstr>数据通路的设计（Ioad）</vt:lpstr>
      <vt:lpstr>数据通路的设计（store）</vt:lpstr>
      <vt:lpstr>数据通路的设计（分支）</vt:lpstr>
      <vt:lpstr>数据通路的设计（取指部件）</vt:lpstr>
      <vt:lpstr>控制器设计（教材147）</vt:lpstr>
      <vt:lpstr>控制器设计</vt:lpstr>
      <vt:lpstr>设计参考</vt:lpstr>
      <vt:lpstr>设计参考</vt:lpstr>
      <vt:lpstr>设计参考</vt:lpstr>
      <vt:lpstr>实验要求</vt:lpstr>
      <vt:lpstr>实验要求</vt:lpstr>
      <vt:lpstr>课后作业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源 米</dc:creator>
  <cp:lastModifiedBy>源 米</cp:lastModifiedBy>
  <cp:revision>151</cp:revision>
  <dcterms:created xsi:type="dcterms:W3CDTF">2024-11-15T12:59:17Z</dcterms:created>
  <dcterms:modified xsi:type="dcterms:W3CDTF">2025-11-07T15:56:13Z</dcterms:modified>
</cp:coreProperties>
</file>