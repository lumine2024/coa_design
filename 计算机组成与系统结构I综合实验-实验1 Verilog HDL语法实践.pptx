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2" r:id="rId3"/>
    <p:sldId id="285" r:id="rId4"/>
    <p:sldId id="257" r:id="rId5"/>
    <p:sldId id="284" r:id="rId6"/>
    <p:sldId id="283" r:id="rId7"/>
    <p:sldId id="258" r:id="rId8"/>
    <p:sldId id="279" r:id="rId9"/>
    <p:sldId id="286" r:id="rId10"/>
    <p:sldId id="287" r:id="rId11"/>
    <p:sldId id="288" r:id="rId12"/>
    <p:sldId id="289" r:id="rId13"/>
    <p:sldId id="274" r:id="rId14"/>
    <p:sldId id="291" r:id="rId15"/>
    <p:sldId id="290" r:id="rId16"/>
    <p:sldId id="292" r:id="rId17"/>
    <p:sldId id="295" r:id="rId18"/>
    <p:sldId id="29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1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55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650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85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80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201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96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9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12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97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1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8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44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noob.com/w3cnote/verilog-tutorial.html" TargetMode="External"/><Relationship Id="rId2" Type="http://schemas.openxmlformats.org/officeDocument/2006/relationships/hyperlink" Target="https://blog.csdn.net/weixin_50810761/article/details/113091498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ED5B8-598C-2225-141B-BE796372AD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计算机组成与系统结构</a:t>
            </a:r>
            <a:r>
              <a:rPr lang="en-US" altLang="zh-CN" b="1" dirty="0"/>
              <a:t>II</a:t>
            </a:r>
            <a:br>
              <a:rPr lang="en-US" altLang="zh-CN" b="1" dirty="0"/>
            </a:br>
            <a:r>
              <a:rPr lang="zh-CN" altLang="en-US" b="1" dirty="0"/>
              <a:t>综合实验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A67E98-AD0B-7C9B-6B09-E94E06FF0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实验</a:t>
            </a:r>
            <a:r>
              <a:rPr lang="en-US" altLang="zh-CN" dirty="0"/>
              <a:t>1 Verilog HDL</a:t>
            </a:r>
            <a:r>
              <a:rPr lang="zh-CN" altLang="en-US" dirty="0"/>
              <a:t>语法实践</a:t>
            </a:r>
          </a:p>
        </p:txBody>
      </p:sp>
    </p:spTree>
    <p:extLst>
      <p:ext uri="{BB962C8B-B14F-4D97-AF65-F5344CB8AC3E}">
        <p14:creationId xmlns:p14="http://schemas.microsoft.com/office/powerpoint/2010/main" val="266492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4D525-E231-4AFD-9F79-3D863FEF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课程联系方式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872445-9F4B-4FB8-A6B0-31BF09670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defTabSz="360000">
              <a:buNone/>
            </a:pPr>
            <a:endParaRPr lang="en-US" altLang="zh-CN" sz="2400" dirty="0"/>
          </a:p>
          <a:p>
            <a:pPr marL="0" indent="0" defTabSz="360000">
              <a:buNone/>
            </a:pPr>
            <a:r>
              <a:rPr lang="zh-CN" altLang="en-US" sz="2400" dirty="0"/>
              <a:t>电话：米源  </a:t>
            </a:r>
            <a:r>
              <a:rPr lang="en-US" altLang="zh-CN" sz="2400" dirty="0"/>
              <a:t>18780044572</a:t>
            </a:r>
          </a:p>
          <a:p>
            <a:pPr marL="0" indent="0" defTabSz="360000">
              <a:buNone/>
            </a:pPr>
            <a:r>
              <a:rPr lang="zh-CN" altLang="en-US" sz="2400" dirty="0"/>
              <a:t>邮箱：</a:t>
            </a:r>
            <a:r>
              <a:rPr lang="en-US" altLang="zh-CN" sz="2400" dirty="0"/>
              <a:t>mi__yuan@163.com</a:t>
            </a:r>
          </a:p>
          <a:p>
            <a:pPr marL="0" indent="0" defTabSz="360000">
              <a:buNone/>
            </a:pPr>
            <a:r>
              <a:rPr lang="zh-CN" altLang="en-US" sz="2400" dirty="0"/>
              <a:t>办公地点：主楼</a:t>
            </a:r>
            <a:r>
              <a:rPr lang="en-US" altLang="zh-CN" sz="2400" dirty="0"/>
              <a:t>A2-402-2</a:t>
            </a:r>
          </a:p>
          <a:p>
            <a:pPr marL="0" indent="0" defTabSz="360000">
              <a:buNone/>
            </a:pPr>
            <a:endParaRPr lang="en-US" altLang="zh-CN" sz="2400" dirty="0"/>
          </a:p>
          <a:p>
            <a:pPr marL="0" indent="0" defTabSz="360000">
              <a:buNone/>
            </a:pPr>
            <a:r>
              <a:rPr lang="en-US" altLang="zh-CN" sz="2400" dirty="0"/>
              <a:t>QQ</a:t>
            </a:r>
            <a:r>
              <a:rPr lang="zh-CN" altLang="en-US" sz="2400" dirty="0"/>
              <a:t>群：</a:t>
            </a:r>
            <a:r>
              <a:rPr lang="en-US" altLang="zh-CN" sz="2400" dirty="0"/>
              <a:t>1007051296</a:t>
            </a:r>
          </a:p>
          <a:p>
            <a:pPr marL="0" indent="0" defTabSz="360000">
              <a:buNone/>
            </a:pPr>
            <a:r>
              <a:rPr lang="zh-CN" altLang="en-US" sz="2400" dirty="0"/>
              <a:t>问题：课程代码</a:t>
            </a:r>
            <a:endParaRPr lang="en-US" altLang="zh-CN" sz="2400" dirty="0"/>
          </a:p>
          <a:p>
            <a:pPr marL="0" indent="0" defTabSz="360000">
              <a:buNone/>
            </a:pPr>
            <a:r>
              <a:rPr lang="zh-CN" altLang="en-US" sz="2400" dirty="0"/>
              <a:t>答案：</a:t>
            </a:r>
            <a:r>
              <a:rPr lang="en-US" altLang="zh-CN" sz="2400" dirty="0"/>
              <a:t>K0801410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07C1D5-8987-400B-9AEF-C2E7A7188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797" y="0"/>
            <a:ext cx="38555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15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75AB5-CE67-9381-B82E-77C0A4D4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E7CBDD-8767-680A-5CEC-8E5A133CE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defTabSz="360000">
              <a:buNone/>
            </a:pPr>
            <a:r>
              <a:rPr lang="zh-CN" altLang="en-US" b="1" dirty="0"/>
              <a:t>课程内容：</a:t>
            </a:r>
            <a:endParaRPr lang="en-US" altLang="zh-CN" b="1" dirty="0"/>
          </a:p>
          <a:p>
            <a:pPr lvl="1" defTabSz="360000"/>
            <a:r>
              <a:rPr lang="zh-CN" altLang="en-US" dirty="0"/>
              <a:t>基于给定</a:t>
            </a:r>
            <a:r>
              <a:rPr lang="en-US" altLang="zh-CN" dirty="0"/>
              <a:t>MIPS</a:t>
            </a:r>
            <a:r>
              <a:rPr lang="zh-CN" altLang="en-US" dirty="0"/>
              <a:t>指令集设计并实现单周期</a:t>
            </a:r>
            <a:r>
              <a:rPr lang="en-US" altLang="zh-CN" dirty="0"/>
              <a:t>CPU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 defTabSz="360000"/>
            <a:r>
              <a:rPr lang="zh-CN" altLang="en-US" dirty="0"/>
              <a:t>添加流水线寄存器，实现五级流水线</a:t>
            </a:r>
            <a:r>
              <a:rPr lang="en-US" altLang="zh-CN" dirty="0"/>
              <a:t>CPU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 defTabSz="360000"/>
            <a:r>
              <a:rPr lang="zh-CN" altLang="en-US" dirty="0"/>
              <a:t>解决流水线结构中的数据</a:t>
            </a:r>
            <a:r>
              <a:rPr lang="en-US" altLang="zh-CN" dirty="0"/>
              <a:t>/</a:t>
            </a:r>
            <a:r>
              <a:rPr lang="zh-CN" altLang="en-US" dirty="0"/>
              <a:t>控制冒险问题；</a:t>
            </a:r>
            <a:endParaRPr lang="en-US" altLang="zh-CN" dirty="0"/>
          </a:p>
          <a:p>
            <a:pPr marL="0" indent="0" defTabSz="360000">
              <a:buNone/>
            </a:pPr>
            <a:endParaRPr lang="en-US" altLang="zh-CN" sz="2400" dirty="0"/>
          </a:p>
          <a:p>
            <a:pPr marL="0" indent="0" defTabSz="360000">
              <a:buNone/>
            </a:pPr>
            <a:r>
              <a:rPr lang="zh-CN" altLang="en-US" b="1" dirty="0"/>
              <a:t>参考书籍：</a:t>
            </a:r>
            <a:endParaRPr lang="en-US" altLang="zh-CN" sz="2400" b="1" dirty="0"/>
          </a:p>
          <a:p>
            <a:pPr marL="457200" lvl="1" indent="0" defTabSz="360000">
              <a:buNone/>
              <a:tabLst>
                <a:tab pos="0" algn="l"/>
              </a:tabLst>
            </a:pPr>
            <a:r>
              <a:rPr lang="en-US" altLang="zh-CN" sz="2400" dirty="0"/>
              <a:t>1. 《</a:t>
            </a:r>
            <a:r>
              <a:rPr lang="zh-CN" altLang="en-US" dirty="0"/>
              <a:t>计算机组成与系统结构（第三版）</a:t>
            </a:r>
            <a:r>
              <a:rPr lang="en-US" altLang="zh-CN" dirty="0"/>
              <a:t>》, </a:t>
            </a:r>
            <a:r>
              <a:rPr lang="zh-CN" altLang="en-US" dirty="0"/>
              <a:t>袁春风主编</a:t>
            </a:r>
            <a:endParaRPr lang="en-US" altLang="zh-CN" dirty="0"/>
          </a:p>
          <a:p>
            <a:pPr marL="457200" lvl="1" indent="0" defTabSz="360000">
              <a:buNone/>
              <a:tabLst>
                <a:tab pos="0" algn="l"/>
              </a:tabLst>
            </a:pPr>
            <a:r>
              <a:rPr lang="en-US" altLang="zh-CN" dirty="0"/>
              <a:t>2. 《Verilog HDL</a:t>
            </a:r>
            <a:r>
              <a:rPr lang="zh-CN" altLang="en-US" dirty="0"/>
              <a:t>数字设计与综合（第</a:t>
            </a:r>
            <a:r>
              <a:rPr lang="en-US" altLang="zh-CN" dirty="0"/>
              <a:t>2</a:t>
            </a:r>
            <a:r>
              <a:rPr lang="zh-CN" altLang="en-US" dirty="0"/>
              <a:t>版）</a:t>
            </a:r>
            <a:r>
              <a:rPr lang="en-US" altLang="zh-CN" dirty="0"/>
              <a:t>》</a:t>
            </a:r>
            <a:r>
              <a:rPr lang="zh-CN" altLang="en-US" dirty="0"/>
              <a:t>，</a:t>
            </a:r>
            <a:r>
              <a:rPr lang="en-US" altLang="zh-CN" dirty="0"/>
              <a:t>Samir </a:t>
            </a:r>
            <a:r>
              <a:rPr lang="en-US" altLang="zh-CN" dirty="0" err="1"/>
              <a:t>Palnitkar</a:t>
            </a:r>
            <a:r>
              <a:rPr lang="zh-CN" altLang="en-US" dirty="0"/>
              <a:t>著</a:t>
            </a:r>
            <a:r>
              <a:rPr lang="en-US" altLang="zh-CN" dirty="0"/>
              <a:t>, </a:t>
            </a:r>
            <a:r>
              <a:rPr lang="zh-CN" altLang="en-US" dirty="0"/>
              <a:t>夏宇闻</a:t>
            </a:r>
            <a:r>
              <a:rPr lang="en-US" altLang="zh-CN" dirty="0"/>
              <a:t>, </a:t>
            </a:r>
            <a:r>
              <a:rPr lang="zh-CN" altLang="en-US" dirty="0"/>
              <a:t>胡燕祥</a:t>
            </a:r>
            <a:r>
              <a:rPr lang="en-US" altLang="zh-CN" dirty="0"/>
              <a:t>, </a:t>
            </a:r>
            <a:r>
              <a:rPr lang="zh-CN" altLang="en-US" dirty="0"/>
              <a:t>刁岚松</a:t>
            </a:r>
            <a:r>
              <a:rPr lang="zh-CN" altLang="en-US" sz="2400" dirty="0"/>
              <a:t>等译；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91475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75AB5-CE67-9381-B82E-77C0A4D4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开发环境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E7CBDD-8767-680A-5CEC-8E5A133CE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defTabSz="360000"/>
            <a:r>
              <a:rPr lang="zh-CN" altLang="en-US" dirty="0"/>
              <a:t>开发语言：</a:t>
            </a:r>
            <a:r>
              <a:rPr lang="en-US" altLang="zh-CN" dirty="0"/>
              <a:t>Verilog HDL</a:t>
            </a:r>
          </a:p>
          <a:p>
            <a:pPr marL="457200" lvl="1" indent="0" defTabSz="360000">
              <a:buNone/>
            </a:pPr>
            <a:r>
              <a:rPr lang="zh-CN" altLang="en-US" dirty="0"/>
              <a:t>课件：</a:t>
            </a:r>
            <a:r>
              <a:rPr lang="en-US" altLang="zh-CN" dirty="0"/>
              <a:t>Verilog HDL</a:t>
            </a:r>
            <a:r>
              <a:rPr lang="zh-CN" altLang="en-US" dirty="0"/>
              <a:t>语法简介</a:t>
            </a:r>
            <a:r>
              <a:rPr lang="en-US" altLang="zh-CN" dirty="0"/>
              <a:t>.pptx</a:t>
            </a:r>
          </a:p>
          <a:p>
            <a:pPr marL="457200" lvl="1" indent="0" defTabSz="360000">
              <a:buNone/>
            </a:pPr>
            <a:r>
              <a:rPr lang="zh-CN" altLang="en-US" dirty="0"/>
              <a:t>参考资料：</a:t>
            </a:r>
            <a:endParaRPr lang="en-US" altLang="zh-CN" dirty="0"/>
          </a:p>
          <a:p>
            <a:pPr marL="457200" lvl="1" indent="0" defTabSz="360000">
              <a:buNone/>
            </a:pPr>
            <a:r>
              <a:rPr lang="en-US" altLang="zh-CN" dirty="0">
                <a:hlinkClick r:id="rId2"/>
              </a:rPr>
              <a:t>https://blog.csdn.net/weixin_50810761/article/details/113091498</a:t>
            </a:r>
            <a:endParaRPr lang="en-US" altLang="zh-CN" dirty="0"/>
          </a:p>
          <a:p>
            <a:pPr marL="457200" lvl="1" indent="0" defTabSz="360000">
              <a:buNone/>
            </a:pPr>
            <a:r>
              <a:rPr lang="en-US" altLang="zh-CN" dirty="0">
                <a:hlinkClick r:id="rId3"/>
              </a:rPr>
              <a:t>https://www.runoob.com/w3cnote/verilog-tutorial.html</a:t>
            </a:r>
            <a:endParaRPr lang="en-US" altLang="zh-CN" dirty="0"/>
          </a:p>
          <a:p>
            <a:pPr defTabSz="360000"/>
            <a:r>
              <a:rPr lang="zh-CN" altLang="en-US" dirty="0"/>
              <a:t>开发环境：</a:t>
            </a:r>
            <a:r>
              <a:rPr lang="en-US" altLang="zh-CN" dirty="0"/>
              <a:t>Xilinx ISE/AMD </a:t>
            </a:r>
            <a:r>
              <a:rPr lang="en-US" altLang="zh-CN" dirty="0" err="1"/>
              <a:t>Vivado</a:t>
            </a:r>
            <a:r>
              <a:rPr lang="en-US" altLang="zh-CN" dirty="0"/>
              <a:t>/</a:t>
            </a:r>
            <a:r>
              <a:rPr lang="en-US" altLang="zh-CN" dirty="0" err="1"/>
              <a:t>Modelsim</a:t>
            </a:r>
            <a:r>
              <a:rPr lang="en-US" altLang="zh-CN" dirty="0"/>
              <a:t>/…</a:t>
            </a:r>
          </a:p>
          <a:p>
            <a:pPr marL="457200" lvl="1" indent="0" defTabSz="360000">
              <a:buNone/>
            </a:pPr>
            <a:r>
              <a:rPr lang="zh-CN" altLang="en-US" dirty="0"/>
              <a:t>开发环境介绍：</a:t>
            </a:r>
            <a:endParaRPr lang="en-US" altLang="zh-CN" dirty="0"/>
          </a:p>
          <a:p>
            <a:pPr marL="457200" lvl="1" indent="0" defTabSz="360000">
              <a:buNone/>
            </a:pPr>
            <a:r>
              <a:rPr lang="en-US" altLang="zh-CN" dirty="0"/>
              <a:t>Xilinx ISE-14.7.pdf</a:t>
            </a:r>
          </a:p>
          <a:p>
            <a:pPr marL="457200" lvl="1" indent="0" defTabSz="360000">
              <a:buNone/>
            </a:pPr>
            <a:r>
              <a:rPr lang="en-US" altLang="zh-CN" dirty="0"/>
              <a:t>Vivado-2017.2.pdf</a:t>
            </a:r>
          </a:p>
          <a:p>
            <a:pPr marL="457200" lvl="1" indent="0" defTabSz="360000">
              <a:buNone/>
            </a:pPr>
            <a:r>
              <a:rPr lang="en-US" altLang="zh-CN" dirty="0"/>
              <a:t>Modelsim-win64-10.4-se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49004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75AB5-CE67-9381-B82E-77C0A4D4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考核方式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E7CBDD-8767-680A-5CEC-8E5A133CE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最终成绩</a:t>
            </a:r>
            <a:r>
              <a:rPr lang="en-US" altLang="zh-CN" b="1" dirty="0"/>
              <a:t>=</a:t>
            </a:r>
            <a:r>
              <a:rPr lang="zh-CN" altLang="en-US" b="1" dirty="0"/>
              <a:t>平时成绩（</a:t>
            </a:r>
            <a:r>
              <a:rPr lang="en-US" altLang="zh-CN" b="1" dirty="0"/>
              <a:t>30%</a:t>
            </a:r>
            <a:r>
              <a:rPr lang="zh-CN" altLang="en-US" b="1" dirty="0"/>
              <a:t>）</a:t>
            </a:r>
            <a:r>
              <a:rPr lang="en-US" altLang="zh-CN" b="1" dirty="0"/>
              <a:t>+</a:t>
            </a:r>
            <a:r>
              <a:rPr lang="zh-CN" altLang="en-US" b="1" dirty="0"/>
              <a:t>期末成绩（</a:t>
            </a:r>
            <a:r>
              <a:rPr lang="en-US" altLang="zh-CN" b="1" dirty="0"/>
              <a:t>70%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marL="457200" lvl="1" indent="0">
              <a:buNone/>
            </a:pPr>
            <a:r>
              <a:rPr lang="zh-CN" altLang="en-US" dirty="0"/>
              <a:t>平时成绩：课后作业完成情况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期末成绩：实验报告完成情况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评分细则：计算机组成与系统结构</a:t>
            </a:r>
            <a:r>
              <a:rPr lang="en-US" altLang="zh-CN" dirty="0"/>
              <a:t>II</a:t>
            </a:r>
            <a:r>
              <a:rPr lang="zh-CN" altLang="en-US" dirty="0"/>
              <a:t>综合实验</a:t>
            </a:r>
            <a:r>
              <a:rPr lang="en-US" altLang="zh-CN" dirty="0"/>
              <a:t>-</a:t>
            </a:r>
            <a:r>
              <a:rPr lang="zh-CN" altLang="en-US" dirty="0"/>
              <a:t>课程评分标准</a:t>
            </a:r>
            <a:r>
              <a:rPr lang="en-US" altLang="zh-CN" dirty="0"/>
              <a:t>.docx</a:t>
            </a:r>
          </a:p>
          <a:p>
            <a:pPr marL="0" indent="0" defTabSz="360000">
              <a:buNone/>
            </a:pPr>
            <a:endParaRPr lang="en-US" altLang="zh-CN" sz="2400" dirty="0"/>
          </a:p>
          <a:p>
            <a:pPr defTabSz="360000"/>
            <a:r>
              <a:rPr lang="zh-CN" altLang="en-US" b="1" dirty="0"/>
              <a:t>课程出勤情况考察</a:t>
            </a:r>
            <a:endParaRPr lang="en-US" altLang="zh-CN" b="1" dirty="0"/>
          </a:p>
          <a:p>
            <a:pPr marL="457200" lvl="1" indent="0" defTabSz="360000">
              <a:buNone/>
            </a:pPr>
            <a:r>
              <a:rPr lang="zh-CN" altLang="en-US" dirty="0"/>
              <a:t>非特殊情况缺勤一次，最终成绩减</a:t>
            </a:r>
            <a:r>
              <a:rPr lang="en-US" altLang="zh-CN" dirty="0"/>
              <a:t>2</a:t>
            </a:r>
            <a:r>
              <a:rPr lang="zh-CN" altLang="en-US" dirty="0"/>
              <a:t>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61255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75AB5-CE67-9381-B82E-77C0A4D4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课程安排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E7CBDD-8767-680A-5CEC-8E5A133CE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dirty="0"/>
              <a:t>     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1. ALU</a:t>
            </a:r>
            <a:r>
              <a:rPr lang="zh-CN" altLang="en-US" sz="2800" dirty="0">
                <a:solidFill>
                  <a:srgbClr val="FF0000"/>
                </a:solidFill>
              </a:rPr>
              <a:t>实现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    2. </a:t>
            </a:r>
            <a:r>
              <a:rPr lang="zh-CN" altLang="en-US" sz="2800" dirty="0"/>
              <a:t>单周期处理器设计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3. </a:t>
            </a:r>
            <a:r>
              <a:rPr lang="zh-CN" altLang="en-US" sz="2800" dirty="0"/>
              <a:t>流水线处理器设计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4. </a:t>
            </a:r>
            <a:r>
              <a:rPr lang="zh-CN" altLang="en-US" sz="2800" dirty="0"/>
              <a:t>流水线冒险及处理</a:t>
            </a:r>
            <a:r>
              <a:rPr lang="en-US" altLang="zh-CN" sz="2800" dirty="0"/>
              <a:t>——</a:t>
            </a:r>
            <a:r>
              <a:rPr lang="zh-CN" altLang="en-US" sz="2800" dirty="0"/>
              <a:t>数据冒险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5. </a:t>
            </a:r>
            <a:r>
              <a:rPr lang="zh-CN" altLang="en-US" sz="2800" dirty="0"/>
              <a:t>流水线冒险及处理</a:t>
            </a:r>
            <a:r>
              <a:rPr lang="en-US" altLang="zh-CN" sz="2800" dirty="0"/>
              <a:t>——</a:t>
            </a:r>
            <a:r>
              <a:rPr lang="zh-CN" altLang="en-US" sz="2800" dirty="0"/>
              <a:t>控制冒险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0932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62350-64C1-9AC1-07AF-1B8E24C4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实验目的与要求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755A12-F932-94D6-BF89-2E659EDC8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zh-CN" altLang="en-US" sz="2800" b="1" dirty="0"/>
              <a:t>实验目的：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掌握</a:t>
            </a:r>
            <a:r>
              <a:rPr lang="en-US" altLang="zh-CN" sz="2400" dirty="0"/>
              <a:t>Verilog HDL</a:t>
            </a:r>
            <a:r>
              <a:rPr lang="zh-CN" altLang="en-US" sz="2400" dirty="0"/>
              <a:t>的基本语法；</a:t>
            </a:r>
            <a:r>
              <a:rPr lang="en-US" altLang="zh-CN" sz="2400" dirty="0"/>
              <a:t> </a:t>
            </a:r>
          </a:p>
          <a:p>
            <a:pPr marL="0" indent="0"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掌握开发环境的使用方法；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zh-CN" altLang="en-US" sz="2800" b="1" dirty="0"/>
              <a:t>实验要求：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设计并实现</a:t>
            </a:r>
            <a:r>
              <a:rPr lang="en-US" altLang="zh-CN" sz="2400" dirty="0"/>
              <a:t>CPU</a:t>
            </a:r>
            <a:r>
              <a:rPr lang="zh-CN" altLang="en-US" sz="2400" dirty="0"/>
              <a:t>结构中的</a:t>
            </a:r>
            <a:r>
              <a:rPr lang="en-US" altLang="zh-CN" sz="2400" dirty="0"/>
              <a:t>ALU</a:t>
            </a:r>
            <a:r>
              <a:rPr lang="zh-CN" altLang="en-US" sz="2400" dirty="0"/>
              <a:t>模块；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对设计实现的</a:t>
            </a:r>
            <a:r>
              <a:rPr lang="en-US" altLang="zh-CN" sz="2400" dirty="0"/>
              <a:t>ALU</a:t>
            </a:r>
            <a:r>
              <a:rPr lang="zh-CN" altLang="en-US" sz="2400" dirty="0"/>
              <a:t>模块进行仿真分析；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349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9FF96-1BF6-105C-99E1-D1F6C665D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CPU</a:t>
            </a:r>
            <a:r>
              <a:rPr lang="zh-CN" altLang="en-US" b="1" dirty="0"/>
              <a:t>指令集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6AB9C8E-3B8B-493B-A42A-F9A22C2FF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275039"/>
              </p:ext>
            </p:extLst>
          </p:nvPr>
        </p:nvGraphicFramePr>
        <p:xfrm>
          <a:off x="612000" y="1452874"/>
          <a:ext cx="7920000" cy="50399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3265469849"/>
                    </a:ext>
                  </a:extLst>
                </a:gridCol>
                <a:gridCol w="5580000">
                  <a:extLst>
                    <a:ext uri="{9D8B030D-6E8A-4147-A177-3AD203B41FA5}">
                      <a16:colId xmlns:a16="http://schemas.microsoft.com/office/drawing/2014/main" val="3373602924"/>
                    </a:ext>
                  </a:extLst>
                </a:gridCol>
              </a:tblGrid>
              <a:tr h="4024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指 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功 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3664653"/>
                  </a:ext>
                </a:extLst>
              </a:tr>
              <a:tr h="402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</a:t>
                      </a:r>
                      <a:r>
                        <a:rPr lang="en-US" altLang="zh-CN" sz="2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2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rt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R[</a:t>
                      </a:r>
                      <a:r>
                        <a:rPr lang="en-US" altLang="zh-CN" sz="2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&lt;- R[</a:t>
                      </a:r>
                      <a:r>
                        <a:rPr lang="en-US" altLang="zh-CN" sz="2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+ R[rt]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287" marR="57287" marT="0" marB="0" anchor="ctr"/>
                </a:tc>
                <a:extLst>
                  <a:ext uri="{0D108BD9-81ED-4DB2-BD59-A6C34878D82A}">
                    <a16:rowId xmlns:a16="http://schemas.microsoft.com/office/drawing/2014/main" val="915899297"/>
                  </a:ext>
                </a:extLst>
              </a:tr>
              <a:tr h="402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 </a:t>
                      </a:r>
                      <a:r>
                        <a:rPr lang="en-US" altLang="zh-CN" sz="2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2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rt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R[</a:t>
                      </a:r>
                      <a:r>
                        <a:rPr lang="en-US" altLang="zh-CN" sz="2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&lt;- R[</a:t>
                      </a:r>
                      <a:r>
                        <a:rPr lang="en-US" altLang="zh-CN" sz="2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- R[rt]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287" marR="57287" marT="0" marB="0" anchor="ctr"/>
                </a:tc>
                <a:extLst>
                  <a:ext uri="{0D108BD9-81ED-4DB2-BD59-A6C34878D82A}">
                    <a16:rowId xmlns:a16="http://schemas.microsoft.com/office/drawing/2014/main" val="1473149992"/>
                  </a:ext>
                </a:extLst>
              </a:tr>
              <a:tr h="402414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subu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rd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rt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R[</a:t>
                      </a:r>
                      <a:r>
                        <a:rPr lang="en-US" sz="2000" kern="100" dirty="0" err="1">
                          <a:effectLst/>
                        </a:rPr>
                        <a:t>rd</a:t>
                      </a:r>
                      <a:r>
                        <a:rPr lang="en-US" sz="2000" kern="100" dirty="0">
                          <a:effectLst/>
                        </a:rPr>
                        <a:t>] &lt;- R[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] – R[rt]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extLst>
                  <a:ext uri="{0D108BD9-81ED-4DB2-BD59-A6C34878D82A}">
                    <a16:rowId xmlns:a16="http://schemas.microsoft.com/office/drawing/2014/main" val="2750966456"/>
                  </a:ext>
                </a:extLst>
              </a:tr>
              <a:tr h="402414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slt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rd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rt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2000" kern="100" dirty="0">
                          <a:effectLst/>
                        </a:rPr>
                        <a:t>if (R[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] &lt; R[rt]) R[</a:t>
                      </a:r>
                      <a:r>
                        <a:rPr lang="en-US" sz="2000" kern="100" dirty="0" err="1">
                          <a:effectLst/>
                        </a:rPr>
                        <a:t>rd</a:t>
                      </a:r>
                      <a:r>
                        <a:rPr lang="en-US" sz="2000" kern="100" dirty="0">
                          <a:effectLst/>
                        </a:rPr>
                        <a:t>] &lt;- 1;</a:t>
                      </a:r>
                      <a:r>
                        <a:rPr lang="zh-CN" alt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>
                          <a:effectLst/>
                        </a:rPr>
                        <a:t>else R[</a:t>
                      </a:r>
                      <a:r>
                        <a:rPr lang="en-US" sz="2000" kern="100" dirty="0" err="1">
                          <a:effectLst/>
                        </a:rPr>
                        <a:t>rd</a:t>
                      </a:r>
                      <a:r>
                        <a:rPr lang="en-US" sz="2000" kern="100" dirty="0">
                          <a:effectLst/>
                        </a:rPr>
                        <a:t>] &lt;- 0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extLst>
                  <a:ext uri="{0D108BD9-81ED-4DB2-BD59-A6C34878D82A}">
                    <a16:rowId xmlns:a16="http://schemas.microsoft.com/office/drawing/2014/main" val="323093288"/>
                  </a:ext>
                </a:extLst>
              </a:tr>
              <a:tr h="402414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sltu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rd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rt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2000" kern="100" dirty="0">
                          <a:effectLst/>
                        </a:rPr>
                        <a:t>if (R[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] &lt; R[rt]) R[</a:t>
                      </a:r>
                      <a:r>
                        <a:rPr lang="en-US" sz="2000" kern="100" dirty="0" err="1">
                          <a:effectLst/>
                        </a:rPr>
                        <a:t>rd</a:t>
                      </a:r>
                      <a:r>
                        <a:rPr lang="en-US" sz="2000" kern="100" dirty="0">
                          <a:effectLst/>
                        </a:rPr>
                        <a:t>] &lt;- 1; else R[</a:t>
                      </a:r>
                      <a:r>
                        <a:rPr lang="en-US" sz="2000" kern="100" dirty="0" err="1">
                          <a:effectLst/>
                        </a:rPr>
                        <a:t>rd</a:t>
                      </a:r>
                      <a:r>
                        <a:rPr lang="en-US" sz="2000" kern="100" dirty="0">
                          <a:effectLst/>
                        </a:rPr>
                        <a:t>] &lt;- 0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extLst>
                  <a:ext uri="{0D108BD9-81ED-4DB2-BD59-A6C34878D82A}">
                    <a16:rowId xmlns:a16="http://schemas.microsoft.com/office/drawing/2014/main" val="4147702869"/>
                  </a:ext>
                </a:extLst>
              </a:tr>
              <a:tr h="402414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ori</a:t>
                      </a:r>
                      <a:r>
                        <a:rPr lang="en-US" sz="2000" kern="100" dirty="0">
                          <a:effectLst/>
                        </a:rPr>
                        <a:t> rt,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imm16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R[rt] &lt;- R[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] | </a:t>
                      </a:r>
                      <a:r>
                        <a:rPr lang="en-US" sz="2000" kern="100" dirty="0" err="1">
                          <a:effectLst/>
                        </a:rPr>
                        <a:t>ZEXT</a:t>
                      </a:r>
                      <a:r>
                        <a:rPr lang="en-US" sz="2000" kern="100" dirty="0">
                          <a:effectLst/>
                        </a:rPr>
                        <a:t>(</a:t>
                      </a:r>
                      <a:r>
                        <a:rPr lang="en-US" sz="2000" kern="100" dirty="0" err="1">
                          <a:effectLst/>
                        </a:rPr>
                        <a:t>imm16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extLst>
                  <a:ext uri="{0D108BD9-81ED-4DB2-BD59-A6C34878D82A}">
                    <a16:rowId xmlns:a16="http://schemas.microsoft.com/office/drawing/2014/main" val="2962020088"/>
                  </a:ext>
                </a:extLst>
              </a:tr>
              <a:tr h="402414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addiu</a:t>
                      </a:r>
                      <a:r>
                        <a:rPr lang="en-US" sz="2000" kern="100" dirty="0">
                          <a:effectLst/>
                        </a:rPr>
                        <a:t> rt,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imm16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R[rt] &lt;- R[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] + SEXT(imm16)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extLst>
                  <a:ext uri="{0D108BD9-81ED-4DB2-BD59-A6C34878D82A}">
                    <a16:rowId xmlns:a16="http://schemas.microsoft.com/office/drawing/2014/main" val="4253120256"/>
                  </a:ext>
                </a:extLst>
              </a:tr>
              <a:tr h="402414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lw</a:t>
                      </a:r>
                      <a:r>
                        <a:rPr lang="en-US" sz="2000" kern="100" dirty="0">
                          <a:effectLst/>
                        </a:rPr>
                        <a:t> rt,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imm16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2000" kern="100" dirty="0" err="1">
                          <a:effectLst/>
                        </a:rPr>
                        <a:t>Addr</a:t>
                      </a:r>
                      <a:r>
                        <a:rPr lang="en-US" sz="2000" kern="100" dirty="0">
                          <a:effectLst/>
                        </a:rPr>
                        <a:t> &lt;- R[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] + SEXT(imm16); R[rt] &lt;- M[</a:t>
                      </a:r>
                      <a:r>
                        <a:rPr lang="en-US" sz="2000" kern="100" dirty="0" err="1">
                          <a:effectLst/>
                        </a:rPr>
                        <a:t>Addr</a:t>
                      </a:r>
                      <a:r>
                        <a:rPr lang="en-US" sz="2000" kern="100" dirty="0">
                          <a:effectLst/>
                        </a:rPr>
                        <a:t>]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extLst>
                  <a:ext uri="{0D108BD9-81ED-4DB2-BD59-A6C34878D82A}">
                    <a16:rowId xmlns:a16="http://schemas.microsoft.com/office/drawing/2014/main" val="2942188889"/>
                  </a:ext>
                </a:extLst>
              </a:tr>
              <a:tr h="402414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sw</a:t>
                      </a:r>
                      <a:r>
                        <a:rPr lang="en-US" sz="2000" kern="100" dirty="0">
                          <a:effectLst/>
                        </a:rPr>
                        <a:t> rt,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imm16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2000" kern="100" dirty="0" err="1">
                          <a:effectLst/>
                        </a:rPr>
                        <a:t>Addr</a:t>
                      </a:r>
                      <a:r>
                        <a:rPr lang="en-US" sz="2000" kern="100" dirty="0">
                          <a:effectLst/>
                        </a:rPr>
                        <a:t> &lt;- R[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] + SEXT(imm16); M[</a:t>
                      </a:r>
                      <a:r>
                        <a:rPr lang="en-US" sz="2000" kern="100" dirty="0" err="1">
                          <a:effectLst/>
                        </a:rPr>
                        <a:t>Addr</a:t>
                      </a:r>
                      <a:r>
                        <a:rPr lang="en-US" sz="2000" kern="100" dirty="0">
                          <a:effectLst/>
                        </a:rPr>
                        <a:t>] &lt;- R[rt]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extLst>
                  <a:ext uri="{0D108BD9-81ED-4DB2-BD59-A6C34878D82A}">
                    <a16:rowId xmlns:a16="http://schemas.microsoft.com/office/drawing/2014/main" val="1630086120"/>
                  </a:ext>
                </a:extLst>
              </a:tr>
              <a:tr h="613443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beq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rt, </a:t>
                      </a:r>
                      <a:r>
                        <a:rPr lang="en-US" sz="2000" kern="100" dirty="0" err="1">
                          <a:effectLst/>
                        </a:rPr>
                        <a:t>imm16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2000" kern="100" dirty="0">
                          <a:effectLst/>
                        </a:rPr>
                        <a:t>Cond &lt;- R[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] – R[rt]; if (Cond eq 0) </a:t>
                      </a:r>
                    </a:p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2000" kern="100" dirty="0">
                          <a:effectLst/>
                        </a:rPr>
                        <a:t>PC &lt;- PC + 4 + (SEXT(IMM16) </a:t>
                      </a:r>
                      <a:r>
                        <a:rPr lang="zh-CN" sz="2000" kern="100" dirty="0">
                          <a:effectLst/>
                        </a:rPr>
                        <a:t>×</a:t>
                      </a:r>
                      <a:r>
                        <a:rPr lang="en-US" sz="2000" kern="100" dirty="0">
                          <a:effectLst/>
                        </a:rPr>
                        <a:t> 4) 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extLst>
                  <a:ext uri="{0D108BD9-81ED-4DB2-BD59-A6C34878D82A}">
                    <a16:rowId xmlns:a16="http://schemas.microsoft.com/office/drawing/2014/main" val="938328376"/>
                  </a:ext>
                </a:extLst>
              </a:tr>
              <a:tr h="402414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j target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2000" kern="100" dirty="0">
                          <a:effectLst/>
                        </a:rPr>
                        <a:t>PC &lt;- PC&lt;31:28&gt; || target&lt;25:0&gt; || 00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extLst>
                  <a:ext uri="{0D108BD9-81ED-4DB2-BD59-A6C34878D82A}">
                    <a16:rowId xmlns:a16="http://schemas.microsoft.com/office/drawing/2014/main" val="401047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321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729E2-61D3-4A0C-B058-C37C95EBF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ALU</a:t>
            </a:r>
            <a:r>
              <a:rPr lang="zh-CN" altLang="en-US" b="1" dirty="0"/>
              <a:t>运算类型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4E8572E8-C53C-4944-B2EC-10C993F03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5551321"/>
              </p:ext>
            </p:extLst>
          </p:nvPr>
        </p:nvGraphicFramePr>
        <p:xfrm>
          <a:off x="612000" y="1452874"/>
          <a:ext cx="7920000" cy="50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380269037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326236674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853386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4615818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指 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运 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溢出判断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操作类型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11587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</a:t>
                      </a:r>
                      <a:r>
                        <a:rPr lang="en-US" altLang="zh-CN" sz="2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2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rt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add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562488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 </a:t>
                      </a:r>
                      <a:r>
                        <a:rPr lang="en-US" altLang="zh-CN" sz="2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20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rt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sub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9664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subu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rd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rt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subu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38692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slt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rd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rt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带符号整数比较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slt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22784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sltu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rd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rt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无符号整数比较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sltu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93698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ori</a:t>
                      </a:r>
                      <a:r>
                        <a:rPr lang="en-US" sz="2000" kern="100" dirty="0">
                          <a:effectLst/>
                        </a:rPr>
                        <a:t> rt,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imm16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ori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58189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addiu</a:t>
                      </a:r>
                      <a:r>
                        <a:rPr lang="en-US" sz="2000" kern="100" dirty="0">
                          <a:effectLst/>
                        </a:rPr>
                        <a:t> rt,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imm16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addu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58727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lw</a:t>
                      </a:r>
                      <a:r>
                        <a:rPr lang="en-US" sz="2000" kern="100" dirty="0">
                          <a:effectLst/>
                        </a:rPr>
                        <a:t> rt,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imm16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addu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93736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sw</a:t>
                      </a:r>
                      <a:r>
                        <a:rPr lang="en-US" sz="2000" kern="100" dirty="0">
                          <a:effectLst/>
                        </a:rPr>
                        <a:t> rt,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</a:rPr>
                        <a:t>imm16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addu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08002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beq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rs</a:t>
                      </a:r>
                      <a:r>
                        <a:rPr lang="en-US" sz="2000" kern="100" dirty="0">
                          <a:effectLst/>
                        </a:rPr>
                        <a:t>, rt, </a:t>
                      </a:r>
                      <a:r>
                        <a:rPr lang="en-US" sz="2000" kern="100" dirty="0" err="1">
                          <a:effectLst/>
                        </a:rPr>
                        <a:t>imm16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subu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95968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j target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287" marR="5728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/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/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/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419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832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6D67E-20C9-4279-92E3-EED5E4A7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ALU</a:t>
            </a:r>
            <a:r>
              <a:rPr lang="zh-CN" altLang="en-US" b="1" dirty="0"/>
              <a:t>操作编码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0A45FE2-DE1A-4E73-9A33-7AC387F537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6387259"/>
              </p:ext>
            </p:extLst>
          </p:nvPr>
        </p:nvGraphicFramePr>
        <p:xfrm>
          <a:off x="628650" y="1539000"/>
          <a:ext cx="7920000" cy="37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99408191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81933365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6094219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47514124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20356582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520400066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操作类型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ALUC[2:0]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err="1"/>
                        <a:t>SUBctr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err="1"/>
                        <a:t>OVctr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err="1"/>
                        <a:t>SIGctr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err="1"/>
                        <a:t>Opctr</a:t>
                      </a:r>
                      <a:r>
                        <a:rPr lang="en-US" altLang="zh-CN" sz="2000" b="1" dirty="0"/>
                        <a:t>[1:0]</a:t>
                      </a:r>
                      <a:endParaRPr lang="zh-CN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644618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addu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</a:t>
                      </a:r>
                      <a:r>
                        <a:rPr lang="zh-CN" altLang="en-US" sz="2000" dirty="0"/>
                        <a:t>：加减法器输出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86843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add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</a:t>
                      </a:r>
                      <a:r>
                        <a:rPr lang="zh-CN" altLang="en-US" sz="2000" dirty="0"/>
                        <a:t>：加减法器输出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60761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or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r>
                        <a:rPr lang="zh-CN" altLang="en-US" sz="2000" dirty="0"/>
                        <a:t>：或门阵列输出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27562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/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/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/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/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/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821979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subu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00</a:t>
                      </a:r>
                      <a:r>
                        <a:rPr kumimoji="0" lang="zh-CN" alt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：加减法器输出</a:t>
                      </a:r>
                      <a:endParaRPr kumimoji="0" lang="zh-CN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3774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sub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00</a:t>
                      </a:r>
                      <a:r>
                        <a:rPr kumimoji="0" lang="zh-CN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：加减法器输出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0335088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sltu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110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r>
                        <a:rPr lang="zh-CN" altLang="en-US" sz="2000" dirty="0"/>
                        <a:t>：比较置数输出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24608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slt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111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r>
                        <a:rPr lang="zh-CN" altLang="en-US" sz="2000" dirty="0"/>
                        <a:t>：比较置数输出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466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63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6D67E-20C9-4279-92E3-EED5E4A7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ALU</a:t>
            </a:r>
            <a:r>
              <a:rPr lang="zh-CN" altLang="en-US" b="1" dirty="0"/>
              <a:t>操作编码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C7A1D0B-7AB0-4259-9334-6B259984E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defTabSz="360000">
              <a:buNone/>
            </a:pPr>
            <a:endParaRPr lang="en-US" altLang="zh-CN" sz="2400" dirty="0"/>
          </a:p>
          <a:p>
            <a:pPr marL="0" indent="0" defTabSz="360000"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综合上述分析，得到</a:t>
            </a:r>
            <a:r>
              <a:rPr lang="en-US" altLang="zh-CN" sz="2400" dirty="0"/>
              <a:t>ALU</a:t>
            </a:r>
            <a:r>
              <a:rPr lang="zh-CN" altLang="en-US" sz="2400" dirty="0"/>
              <a:t>控制信号的逻辑表达式如下：</a:t>
            </a:r>
          </a:p>
          <a:p>
            <a:pPr marL="0" indent="0" defTabSz="360000"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SUBctr</a:t>
            </a:r>
            <a:r>
              <a:rPr lang="en-US" altLang="zh-CN" sz="2400" dirty="0"/>
              <a:t>      = </a:t>
            </a:r>
            <a:r>
              <a:rPr lang="en-US" altLang="zh-CN" sz="2400" dirty="0" err="1"/>
              <a:t>ALUctr</a:t>
            </a:r>
            <a:r>
              <a:rPr lang="en-US" altLang="zh-CN" sz="2400" dirty="0"/>
              <a:t>&lt;2&gt;</a:t>
            </a:r>
          </a:p>
          <a:p>
            <a:pPr marL="0" indent="0" defTabSz="360000"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OVctr</a:t>
            </a:r>
            <a:r>
              <a:rPr lang="en-US" altLang="zh-CN" sz="2400" dirty="0"/>
              <a:t>        = !</a:t>
            </a:r>
            <a:r>
              <a:rPr lang="en-US" altLang="zh-CN" sz="2400" dirty="0" err="1"/>
              <a:t>ALUctr</a:t>
            </a:r>
            <a:r>
              <a:rPr lang="en-US" altLang="zh-CN" sz="2400" dirty="0"/>
              <a:t>&lt;1&gt; &amp; </a:t>
            </a:r>
            <a:r>
              <a:rPr lang="en-US" altLang="zh-CN" sz="2400" dirty="0" err="1"/>
              <a:t>ALUctr</a:t>
            </a:r>
            <a:r>
              <a:rPr lang="en-US" altLang="zh-CN" sz="2400" dirty="0"/>
              <a:t>&lt;0&gt;</a:t>
            </a:r>
          </a:p>
          <a:p>
            <a:pPr marL="0" indent="0" defTabSz="360000"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SIGctr</a:t>
            </a:r>
            <a:r>
              <a:rPr lang="en-US" altLang="zh-CN" sz="2400" dirty="0"/>
              <a:t>       = </a:t>
            </a:r>
            <a:r>
              <a:rPr lang="en-US" altLang="zh-CN" sz="2400" dirty="0" err="1"/>
              <a:t>ALUctr</a:t>
            </a:r>
            <a:r>
              <a:rPr lang="en-US" altLang="zh-CN" sz="2400" dirty="0"/>
              <a:t>&lt;0&gt;</a:t>
            </a:r>
          </a:p>
          <a:p>
            <a:pPr marL="0" indent="0" defTabSz="360000"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OPctr</a:t>
            </a:r>
            <a:r>
              <a:rPr lang="en-US" altLang="zh-CN" sz="2400" dirty="0"/>
              <a:t>&lt;1&gt; = </a:t>
            </a:r>
            <a:r>
              <a:rPr lang="en-US" altLang="zh-CN" sz="2400" dirty="0" err="1"/>
              <a:t>ALUctr</a:t>
            </a:r>
            <a:r>
              <a:rPr lang="en-US" altLang="zh-CN" sz="2400" dirty="0"/>
              <a:t>&lt;2&gt; &amp; </a:t>
            </a:r>
            <a:r>
              <a:rPr lang="en-US" altLang="zh-CN" sz="2400" dirty="0" err="1"/>
              <a:t>ALUctr</a:t>
            </a:r>
            <a:r>
              <a:rPr lang="en-US" altLang="zh-CN" sz="2400" dirty="0"/>
              <a:t>&lt;1&gt;</a:t>
            </a:r>
          </a:p>
          <a:p>
            <a:pPr marL="0" indent="0" defTabSz="360000"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OPctr</a:t>
            </a:r>
            <a:r>
              <a:rPr lang="en-US" altLang="zh-CN" sz="2400" dirty="0"/>
              <a:t>&lt;0&gt; = !</a:t>
            </a:r>
            <a:r>
              <a:rPr lang="en-US" altLang="zh-CN" sz="2400" dirty="0" err="1"/>
              <a:t>ALUctr</a:t>
            </a:r>
            <a:r>
              <a:rPr lang="en-US" altLang="zh-CN" sz="2400" dirty="0"/>
              <a:t>&lt;2&gt; &amp; </a:t>
            </a:r>
            <a:r>
              <a:rPr lang="en-US" altLang="zh-CN" sz="2400" dirty="0" err="1"/>
              <a:t>ALUctr</a:t>
            </a:r>
            <a:r>
              <a:rPr lang="en-US" altLang="zh-CN" sz="2400" dirty="0"/>
              <a:t>&lt;1&gt; &amp; !</a:t>
            </a:r>
            <a:r>
              <a:rPr lang="en-US" altLang="zh-CN" sz="2400" dirty="0" err="1"/>
              <a:t>ALUctr</a:t>
            </a:r>
            <a:r>
              <a:rPr lang="en-US" altLang="zh-CN" sz="2400" dirty="0"/>
              <a:t>&lt;0&gt;</a:t>
            </a:r>
          </a:p>
          <a:p>
            <a:pPr marL="0" indent="0" defTabSz="360000">
              <a:buNone/>
            </a:pPr>
            <a:r>
              <a:rPr lang="en-US" altLang="zh-CN" sz="2400" dirty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88938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6D67E-20C9-4279-92E3-EED5E4A7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ALU</a:t>
            </a:r>
            <a:r>
              <a:rPr lang="zh-CN" altLang="en-US" b="1" dirty="0"/>
              <a:t>设计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6C23AC-E76C-4FF5-BBF2-757AEA4B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64" y="1690689"/>
            <a:ext cx="7915672" cy="475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7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26522-E130-C551-7791-1EB95579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AC8D-0042-AB53-20C7-627C462E7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94152"/>
          </a:xfrm>
        </p:spPr>
        <p:txBody>
          <a:bodyPr>
            <a:noAutofit/>
          </a:bodyPr>
          <a:lstStyle/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设计并实现</a:t>
            </a:r>
            <a:r>
              <a:rPr lang="en-US" altLang="zh-CN" sz="2400" dirty="0"/>
              <a:t>ALU</a:t>
            </a:r>
            <a:r>
              <a:rPr lang="zh-CN" altLang="en-US" sz="2400" dirty="0"/>
              <a:t>结构中的多路选择器，接口定义如下：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module MUX1X2 (		//1</a:t>
            </a:r>
            <a:r>
              <a:rPr lang="zh-CN" altLang="en-US" sz="2400" dirty="0"/>
              <a:t>位</a:t>
            </a:r>
            <a:r>
              <a:rPr lang="en-US" altLang="zh-CN" sz="2400" dirty="0"/>
              <a:t>2</a:t>
            </a:r>
            <a:r>
              <a:rPr lang="zh-CN" altLang="en-US" sz="2400" dirty="0"/>
              <a:t>选</a:t>
            </a:r>
            <a:r>
              <a:rPr lang="en-US" altLang="zh-CN" sz="2400" dirty="0"/>
              <a:t>1</a:t>
            </a:r>
            <a:r>
              <a:rPr lang="zh-CN" altLang="en-US" sz="2400" dirty="0"/>
              <a:t>多路选择器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input X1, X0,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input S,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output Y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);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module MUX32X2 (		//32</a:t>
            </a:r>
            <a:r>
              <a:rPr lang="zh-CN" altLang="en-US" sz="2400" dirty="0"/>
              <a:t>位</a:t>
            </a:r>
            <a:r>
              <a:rPr lang="en-US" altLang="zh-CN" sz="2400" dirty="0"/>
              <a:t>2</a:t>
            </a:r>
            <a:r>
              <a:rPr lang="zh-CN" altLang="en-US" sz="2400" dirty="0"/>
              <a:t>选</a:t>
            </a:r>
            <a:r>
              <a:rPr lang="en-US" altLang="zh-CN" sz="2400" dirty="0"/>
              <a:t>1</a:t>
            </a:r>
            <a:r>
              <a:rPr lang="zh-CN" altLang="en-US" sz="2400" dirty="0"/>
              <a:t>多路选择器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input [31:0] X1, X0;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input S;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output [31:0] Y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);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80927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26522-E130-C551-7791-1EB95579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AC8D-0042-AB53-20C7-627C462E7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94152"/>
          </a:xfrm>
        </p:spPr>
        <p:txBody>
          <a:bodyPr>
            <a:noAutofit/>
          </a:bodyPr>
          <a:lstStyle/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module MUX32X4 (		//32</a:t>
            </a:r>
            <a:r>
              <a:rPr lang="zh-CN" altLang="en-US" sz="2400" dirty="0"/>
              <a:t>位</a:t>
            </a:r>
            <a:r>
              <a:rPr lang="en-US" altLang="zh-CN" sz="2400" dirty="0"/>
              <a:t>4</a:t>
            </a:r>
            <a:r>
              <a:rPr lang="zh-CN" altLang="en-US" sz="2400" dirty="0"/>
              <a:t>选</a:t>
            </a:r>
            <a:r>
              <a:rPr lang="en-US" altLang="zh-CN" sz="2400" dirty="0"/>
              <a:t>1</a:t>
            </a:r>
            <a:r>
              <a:rPr lang="zh-CN" altLang="en-US" sz="2400" dirty="0"/>
              <a:t>多路选择器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input [31:0] X3, X2, X1, X0,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input [1:0] S,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output [31:0] Y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);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604061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26522-E130-C551-7791-1EB95579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AC8D-0042-AB53-20C7-627C462E7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94152"/>
          </a:xfrm>
        </p:spPr>
        <p:txBody>
          <a:bodyPr>
            <a:noAutofit/>
          </a:bodyPr>
          <a:lstStyle/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设计并实现</a:t>
            </a:r>
            <a:r>
              <a:rPr lang="en-US" altLang="zh-CN" sz="2400" dirty="0"/>
              <a:t>CPU</a:t>
            </a:r>
            <a:r>
              <a:rPr lang="zh-CN" altLang="en-US" sz="2400" dirty="0"/>
              <a:t>结构中的</a:t>
            </a:r>
            <a:r>
              <a:rPr lang="en-US" altLang="zh-CN" sz="2400" dirty="0"/>
              <a:t>ALU</a:t>
            </a:r>
            <a:r>
              <a:rPr lang="zh-CN" altLang="en-US" sz="2400" dirty="0"/>
              <a:t>模块，接口定义如下：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module ALU (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input [31:0] A, B,			//32</a:t>
            </a:r>
            <a:r>
              <a:rPr lang="zh-CN" altLang="en-US" sz="2400" dirty="0"/>
              <a:t>位操作数</a:t>
            </a:r>
            <a:r>
              <a:rPr lang="en-US" altLang="zh-CN" sz="2400" dirty="0"/>
              <a:t>	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input [2:0] </a:t>
            </a:r>
            <a:r>
              <a:rPr lang="en-US" altLang="zh-CN" sz="2400" dirty="0" err="1"/>
              <a:t>ALUctr</a:t>
            </a:r>
            <a:r>
              <a:rPr lang="en-US" altLang="zh-CN" sz="2400" dirty="0"/>
              <a:t>,		//3</a:t>
            </a:r>
            <a:r>
              <a:rPr lang="zh-CN" altLang="en-US" sz="2400" dirty="0"/>
              <a:t>位</a:t>
            </a:r>
            <a:r>
              <a:rPr lang="en-US" altLang="zh-CN" sz="2400" dirty="0"/>
              <a:t>ALU</a:t>
            </a:r>
            <a:r>
              <a:rPr lang="zh-CN" altLang="en-US" sz="2400" dirty="0"/>
              <a:t>控制信号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output [31:0] Result,	//32</a:t>
            </a:r>
            <a:r>
              <a:rPr lang="zh-CN" altLang="en-US" sz="2400" dirty="0"/>
              <a:t>位运算结果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output Overflow,			//</a:t>
            </a:r>
            <a:r>
              <a:rPr lang="zh-CN" altLang="en-US" sz="2400" dirty="0"/>
              <a:t>溢出标志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	</a:t>
            </a:r>
            <a:r>
              <a:rPr lang="en-US" altLang="zh-CN" sz="2400"/>
              <a:t>output Z		</a:t>
            </a:r>
            <a:r>
              <a:rPr lang="en-US" altLang="zh-CN" sz="2400" dirty="0"/>
              <a:t>				//Zero-</a:t>
            </a:r>
            <a:r>
              <a:rPr lang="zh-CN" altLang="en-US" sz="2400" dirty="0"/>
              <a:t>零标志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	);</a:t>
            </a:r>
          </a:p>
          <a:p>
            <a:pPr marL="0" indent="0" defTabSz="3600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2400" dirty="0"/>
              <a:t>3. </a:t>
            </a:r>
            <a:r>
              <a:rPr lang="zh-CN" altLang="en-US" sz="2400" dirty="0"/>
              <a:t>设计仿真，分析并验证所实现的</a:t>
            </a:r>
            <a:r>
              <a:rPr lang="en-US" altLang="zh-CN" sz="2400" dirty="0"/>
              <a:t>ALU</a:t>
            </a:r>
            <a:r>
              <a:rPr lang="zh-CN" altLang="en-US" sz="2400" dirty="0"/>
              <a:t>模块功能（指令集中所有指令都需要验证）。</a:t>
            </a:r>
          </a:p>
        </p:txBody>
      </p:sp>
    </p:spTree>
    <p:extLst>
      <p:ext uri="{BB962C8B-B14F-4D97-AF65-F5344CB8AC3E}">
        <p14:creationId xmlns:p14="http://schemas.microsoft.com/office/powerpoint/2010/main" val="1212284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A536B3-A156-2996-9534-16EAFA24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1F21EB-8FD9-823A-A6F1-B3E006CF5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60000">
              <a:lnSpc>
                <a:spcPct val="11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复习</a:t>
            </a:r>
            <a:r>
              <a:rPr lang="en-US" altLang="zh-CN" dirty="0"/>
              <a:t>Verilog HDL</a:t>
            </a:r>
            <a:r>
              <a:rPr lang="zh-CN" altLang="en-US" dirty="0"/>
              <a:t>相关语法知识，自行学习“条件语句”、“多路分支语句”、“循环语句”的使用方法；</a:t>
            </a:r>
          </a:p>
          <a:p>
            <a:pPr marL="0" indent="0" defTabSz="360000">
              <a:lnSpc>
                <a:spcPct val="11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预习教材</a:t>
            </a:r>
            <a:r>
              <a:rPr lang="en-US" altLang="zh-CN" dirty="0"/>
              <a:t>5.2.2</a:t>
            </a:r>
            <a:r>
              <a:rPr lang="zh-CN" altLang="en-US" dirty="0"/>
              <a:t>小节“数据通路的设计”；</a:t>
            </a:r>
          </a:p>
          <a:p>
            <a:pPr marL="0" indent="0" defTabSz="360000">
              <a:lnSpc>
                <a:spcPct val="11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预习教材</a:t>
            </a:r>
            <a:r>
              <a:rPr lang="en-US" altLang="zh-CN" dirty="0"/>
              <a:t>5.2.3</a:t>
            </a:r>
            <a:r>
              <a:rPr lang="zh-CN" altLang="en-US" dirty="0"/>
              <a:t>小节“控制器的设计”；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72119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A536B3-A156-2996-9534-16EAFA24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1F21EB-8FD9-823A-A6F1-B3E006CF5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50304"/>
          </a:xfrm>
        </p:spPr>
        <p:txBody>
          <a:bodyPr>
            <a:noAutofit/>
          </a:bodyPr>
          <a:lstStyle/>
          <a:p>
            <a:pPr marL="0" indent="0" defTabSz="360000">
              <a:lnSpc>
                <a:spcPct val="11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复习</a:t>
            </a:r>
            <a:r>
              <a:rPr lang="en-US" altLang="zh-CN" dirty="0"/>
              <a:t>MIPS</a:t>
            </a:r>
            <a:r>
              <a:rPr lang="zh-CN" altLang="en-US" dirty="0"/>
              <a:t>指令集格式，将以下</a:t>
            </a:r>
            <a:r>
              <a:rPr lang="en-US" altLang="zh-CN" dirty="0"/>
              <a:t>MIPS</a:t>
            </a:r>
            <a:r>
              <a:rPr lang="zh-CN" altLang="en-US" dirty="0"/>
              <a:t>汇编指令翻译为</a:t>
            </a:r>
            <a:r>
              <a:rPr lang="en-US" altLang="zh-CN" dirty="0"/>
              <a:t>32</a:t>
            </a:r>
            <a:r>
              <a:rPr lang="zh-CN" altLang="en-US" dirty="0"/>
              <a:t>位机器码（</a:t>
            </a:r>
            <a:r>
              <a:rPr lang="en-US" altLang="zh-CN" dirty="0"/>
              <a:t>16</a:t>
            </a:r>
            <a:r>
              <a:rPr lang="zh-CN" altLang="en-US" dirty="0"/>
              <a:t>进制表示），分析其执行过程与执行结果。</a:t>
            </a:r>
            <a:endParaRPr lang="en-US" altLang="zh-CN" dirty="0"/>
          </a:p>
          <a:p>
            <a:pPr marL="0" indent="0" defTabSz="36000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dirty="0"/>
              <a:t>	PC:0x00			</a:t>
            </a:r>
            <a:r>
              <a:rPr lang="en-US" altLang="zh-CN" sz="2400" dirty="0" err="1"/>
              <a:t>nop</a:t>
            </a:r>
            <a:endParaRPr lang="en-US" altLang="zh-CN" sz="2400" dirty="0"/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0x04			</a:t>
            </a:r>
            <a:r>
              <a:rPr lang="en-US" altLang="zh-CN" sz="2400" dirty="0" err="1"/>
              <a:t>lw</a:t>
            </a:r>
            <a:r>
              <a:rPr lang="en-US" altLang="zh-CN" sz="2400" dirty="0"/>
              <a:t> $31, 0($0) 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0x08			sub $30, $0, $31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0x0c 		add $29, $16, $31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0x10 		sub $28, $0, $29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0x14 		add $27, $16, $28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0x18			</a:t>
            </a:r>
            <a:r>
              <a:rPr lang="en-US" altLang="zh-CN" sz="2400" dirty="0" err="1"/>
              <a:t>subu</a:t>
            </a:r>
            <a:r>
              <a:rPr lang="en-US" altLang="zh-CN" sz="2400" dirty="0"/>
              <a:t> $26, $31, $1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0x1c			</a:t>
            </a:r>
            <a:r>
              <a:rPr lang="en-US" altLang="zh-CN" sz="2400" dirty="0" err="1"/>
              <a:t>slt</a:t>
            </a:r>
            <a:r>
              <a:rPr lang="en-US" altLang="zh-CN" sz="2400" dirty="0"/>
              <a:t> $25, $1, $31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fi-FI" altLang="zh-CN" sz="2400" dirty="0"/>
              <a:t>	PC: 0x20			sltu $24, $1, $31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0x24			</a:t>
            </a:r>
            <a:r>
              <a:rPr lang="en-US" altLang="zh-CN" sz="2400" dirty="0" err="1"/>
              <a:t>addiu</a:t>
            </a:r>
            <a:r>
              <a:rPr lang="en-US" altLang="zh-CN" sz="2400" dirty="0"/>
              <a:t> $23, $0, 0xab00</a:t>
            </a:r>
          </a:p>
        </p:txBody>
      </p:sp>
    </p:spTree>
    <p:extLst>
      <p:ext uri="{BB962C8B-B14F-4D97-AF65-F5344CB8AC3E}">
        <p14:creationId xmlns:p14="http://schemas.microsoft.com/office/powerpoint/2010/main" val="177271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A536B3-A156-2996-9534-16EAFA24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1F21EB-8FD9-823A-A6F1-B3E006CF5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Autofit/>
          </a:bodyPr>
          <a:lstStyle/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0x28			</a:t>
            </a:r>
            <a:r>
              <a:rPr lang="en-US" altLang="zh-CN" sz="2400" dirty="0" err="1"/>
              <a:t>addiu</a:t>
            </a:r>
            <a:r>
              <a:rPr lang="en-US" altLang="zh-CN" sz="2400" dirty="0"/>
              <a:t> $22, $0, 0x00cd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0x2c			</a:t>
            </a:r>
            <a:r>
              <a:rPr lang="en-US" altLang="zh-CN" sz="2400" dirty="0" err="1"/>
              <a:t>ori</a:t>
            </a:r>
            <a:r>
              <a:rPr lang="en-US" altLang="zh-CN" sz="2400" dirty="0"/>
              <a:t> $21, $22, 0xab00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0x30			</a:t>
            </a:r>
            <a:r>
              <a:rPr lang="en-US" altLang="zh-CN" sz="2400" dirty="0" err="1"/>
              <a:t>sw</a:t>
            </a:r>
            <a:r>
              <a:rPr lang="en-US" altLang="zh-CN" sz="2400" dirty="0"/>
              <a:t> $21, 32($0)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PC:0x34			</a:t>
            </a:r>
            <a:r>
              <a:rPr lang="en-US" altLang="zh-CN" sz="2400" dirty="0" err="1"/>
              <a:t>beq</a:t>
            </a:r>
            <a:r>
              <a:rPr lang="en-US" altLang="zh-CN" sz="2400" dirty="0"/>
              <a:t> $21, $20, 0x0003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0x38			</a:t>
            </a:r>
            <a:r>
              <a:rPr lang="en-US" altLang="zh-CN" sz="2400" dirty="0" err="1"/>
              <a:t>lw</a:t>
            </a:r>
            <a:r>
              <a:rPr lang="en-US" altLang="zh-CN" sz="2400" dirty="0"/>
              <a:t> $20, 31($0) 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0x3c			</a:t>
            </a:r>
            <a:r>
              <a:rPr lang="en-US" altLang="zh-CN" sz="2400" dirty="0" err="1"/>
              <a:t>beq</a:t>
            </a:r>
            <a:r>
              <a:rPr lang="en-US" altLang="zh-CN" sz="2400" dirty="0"/>
              <a:t> $21, $20, 0x0003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0x40 		add $19, $18, $17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0x44 		sub $18, $17, $16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0x48 		</a:t>
            </a:r>
            <a:r>
              <a:rPr lang="en-US" altLang="zh-CN" sz="2400" dirty="0" err="1"/>
              <a:t>subu</a:t>
            </a:r>
            <a:r>
              <a:rPr lang="en-US" altLang="zh-CN" sz="2400" dirty="0"/>
              <a:t> $17, $16, $15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400" dirty="0"/>
              <a:t>	PC: 0x4c			j 15</a:t>
            </a:r>
          </a:p>
          <a:p>
            <a:pPr marL="0" indent="0" defTabSz="36000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dirty="0"/>
              <a:t>寄存器与存储器初始化如下：</a:t>
            </a:r>
            <a:endParaRPr lang="en-US" altLang="zh-CN" sz="2400" dirty="0"/>
          </a:p>
          <a:p>
            <a:pPr marL="0" indent="0" defTabSz="360000">
              <a:lnSpc>
                <a:spcPct val="110000"/>
              </a:lnSpc>
              <a:spcBef>
                <a:spcPts val="0"/>
              </a:spcBef>
              <a:buNone/>
            </a:pPr>
            <a:r>
              <a:rPr lang="nn-NO" altLang="zh-CN" sz="2400" dirty="0"/>
              <a:t> 	for (i = 0; i &lt; 32; i = i + 1) RegFiles[i] = i;</a:t>
            </a:r>
          </a:p>
          <a:p>
            <a:pPr marL="0" indent="0" defTabSz="360000">
              <a:lnSpc>
                <a:spcPct val="110000"/>
              </a:lnSpc>
              <a:spcBef>
                <a:spcPts val="0"/>
              </a:spcBef>
              <a:buNone/>
            </a:pPr>
            <a:r>
              <a:rPr lang="nn-NO" altLang="zh-CN" sz="2400" dirty="0"/>
              <a:t>	for (i = 0; i &lt; 32; i = i + 1) RAM[i] = 32'h80000000 + i;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890309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2868</TotalTime>
  <Words>1616</Words>
  <Application>Microsoft Office PowerPoint</Application>
  <PresentationFormat>全屏显示(4:3)</PresentationFormat>
  <Paragraphs>255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Arial</vt:lpstr>
      <vt:lpstr>Calibri</vt:lpstr>
      <vt:lpstr>Calibri Light</vt:lpstr>
      <vt:lpstr>Office 主题​​</vt:lpstr>
      <vt:lpstr>计算机组成与系统结构II 综合实验</vt:lpstr>
      <vt:lpstr>课程联系方式</vt:lpstr>
      <vt:lpstr>课程目标</vt:lpstr>
      <vt:lpstr>开发环境</vt:lpstr>
      <vt:lpstr>考核方式</vt:lpstr>
      <vt:lpstr>课程安排</vt:lpstr>
      <vt:lpstr>实验目的与要求</vt:lpstr>
      <vt:lpstr>CPU指令集</vt:lpstr>
      <vt:lpstr>ALU运算类型</vt:lpstr>
      <vt:lpstr>ALU操作编码</vt:lpstr>
      <vt:lpstr>ALU操作编码</vt:lpstr>
      <vt:lpstr>ALU设计</vt:lpstr>
      <vt:lpstr>实验要求</vt:lpstr>
      <vt:lpstr>实验要求</vt:lpstr>
      <vt:lpstr>实验要求</vt:lpstr>
      <vt:lpstr>课后作业</vt:lpstr>
      <vt:lpstr>课后作业</vt:lpstr>
      <vt:lpstr>课后作业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源 米</dc:creator>
  <cp:lastModifiedBy>源 米</cp:lastModifiedBy>
  <cp:revision>224</cp:revision>
  <dcterms:created xsi:type="dcterms:W3CDTF">2024-11-15T12:59:17Z</dcterms:created>
  <dcterms:modified xsi:type="dcterms:W3CDTF">2025-11-09T08:25:35Z</dcterms:modified>
</cp:coreProperties>
</file>